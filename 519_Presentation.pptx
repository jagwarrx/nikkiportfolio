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1"/>
  </p:sldMasterIdLst>
  <p:notesMasterIdLst>
    <p:notesMasterId r:id="rId21"/>
  </p:notesMasterIdLst>
  <p:sldIdLst>
    <p:sldId id="284" r:id="rId2"/>
    <p:sldId id="278" r:id="rId3"/>
    <p:sldId id="279" r:id="rId4"/>
    <p:sldId id="276" r:id="rId5"/>
    <p:sldId id="277" r:id="rId6"/>
    <p:sldId id="275" r:id="rId7"/>
    <p:sldId id="281" r:id="rId8"/>
    <p:sldId id="282" r:id="rId9"/>
    <p:sldId id="290" r:id="rId10"/>
    <p:sldId id="291" r:id="rId11"/>
    <p:sldId id="286" r:id="rId12"/>
    <p:sldId id="285" r:id="rId13"/>
    <p:sldId id="280" r:id="rId14"/>
    <p:sldId id="283" r:id="rId15"/>
    <p:sldId id="288" r:id="rId16"/>
    <p:sldId id="289" r:id="rId17"/>
    <p:sldId id="287" r:id="rId18"/>
    <p:sldId id="292" r:id="rId19"/>
    <p:sldId id="29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D5CE8-3F43-94DF-F48A-5664C453178D}" v="17" dt="2025-10-08T21:43:54.490"/>
    <p1510:client id="{50F46A50-1A97-BAC6-5039-236149DB3D68}" v="1397" dt="2025-10-09T17:31:30.088"/>
    <p1510:client id="{51626A06-7118-3462-9983-327DCF5F3F20}" v="2091" dt="2025-10-09T02:24:21.950"/>
    <p1510:client id="{60061FE5-7BAF-EE84-D326-EB47A0A993CF}" v="222" dt="2025-10-08T21:38:38.096"/>
    <p1510:client id="{709914E5-6A49-A349-AAF0-A4C3C99B2B86}" v="26" dt="2025-10-08T04:42:32.542"/>
    <p1510:client id="{B789F437-64A3-057E-0FDA-93ABCE7CAC5D}" v="90" dt="2025-10-09T17:36:23.051"/>
    <p1510:client id="{BD4A38D4-C5AB-DB81-DE0A-3244C9129514}" v="261" dt="2025-10-09T06:03:55.855"/>
    <p1510:client id="{D2E34228-4BEE-2C5E-C1FB-D2B53C0E33C6}" v="1043" dt="2025-10-09T03:00:09.030"/>
    <p1510:client id="{DA88BC78-A582-CAA6-B422-F2D55D664704}" v="80" dt="2025-10-07T20:50:04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1439EC-194A-4A23-91CF-25A7D364F76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BEF685-8CAE-47F9-8850-55DFA8FD88DA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/>
            <a:t>• Tested impact of key assumptions</a:t>
          </a:r>
          <a:br>
            <a:rPr lang="en-US"/>
          </a:br>
          <a:r>
            <a:rPr lang="en-US"/>
            <a:t>Varied hydrogeological survey cost from –$300 K to 0 to see how profitability changed.</a:t>
          </a:r>
          <a:br>
            <a:rPr lang="en-US"/>
          </a:br>
          <a:r>
            <a:rPr lang="en-US"/>
            <a:t>Expected value rose steadily from ≈ $0.65 M to $0.95 M as survey cost decreased or accuracy improved.</a:t>
          </a:r>
        </a:p>
      </dgm:t>
    </dgm:pt>
    <dgm:pt modelId="{042E4505-959F-46A9-A78A-FE3C2780FD3A}" type="parTrans" cxnId="{DC88DB9A-BD65-44B9-B1BD-C04B1DB483F9}">
      <dgm:prSet/>
      <dgm:spPr/>
      <dgm:t>
        <a:bodyPr/>
        <a:lstStyle/>
        <a:p>
          <a:endParaRPr lang="en-US"/>
        </a:p>
      </dgm:t>
    </dgm:pt>
    <dgm:pt modelId="{BD0A3DE8-5A9D-400B-9A01-14B943DB7D09}" type="sibTrans" cxnId="{DC88DB9A-BD65-44B9-B1BD-C04B1DB483F9}">
      <dgm:prSet/>
      <dgm:spPr/>
      <dgm:t>
        <a:bodyPr/>
        <a:lstStyle/>
        <a:p>
          <a:endParaRPr lang="en-US"/>
        </a:p>
      </dgm:t>
    </dgm:pt>
    <dgm:pt modelId="{75694E1C-FC2C-416B-875E-D343F4413B76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/>
            <a:t>• Explored best-case, worst-case, and most-likely scenarios</a:t>
          </a:r>
          <a:br>
            <a:rPr lang="en-US"/>
          </a:br>
          <a:r>
            <a:rPr lang="en-US"/>
            <a:t>Found that once survey cost drops </a:t>
          </a:r>
          <a:r>
            <a:rPr lang="en-US" b="0"/>
            <a:t>below $285 K</a:t>
          </a:r>
          <a:r>
            <a:rPr lang="en-US"/>
            <a:t>, the project’s expected value starts to increase </a:t>
          </a:r>
          <a:r>
            <a:rPr lang="en-US">
              <a:latin typeface="Aptos Display" panose="02110004020202020204"/>
            </a:rPr>
            <a:t>, </a:t>
          </a:r>
          <a:r>
            <a:rPr lang="en-US"/>
            <a:t>making the survey financially worthwhile.</a:t>
          </a:r>
        </a:p>
      </dgm:t>
    </dgm:pt>
    <dgm:pt modelId="{DADC06DA-B373-4C55-A5A3-2FA29997DC43}" type="parTrans" cxnId="{AFA27EF4-1C83-4196-84EC-FC54D67B5811}">
      <dgm:prSet/>
      <dgm:spPr/>
      <dgm:t>
        <a:bodyPr/>
        <a:lstStyle/>
        <a:p>
          <a:endParaRPr lang="en-US"/>
        </a:p>
      </dgm:t>
    </dgm:pt>
    <dgm:pt modelId="{83E7A3AA-DC5F-4385-9325-B43DE74CBF5B}" type="sibTrans" cxnId="{AFA27EF4-1C83-4196-84EC-FC54D67B5811}">
      <dgm:prSet/>
      <dgm:spPr/>
      <dgm:t>
        <a:bodyPr/>
        <a:lstStyle/>
        <a:p>
          <a:endParaRPr lang="en-US"/>
        </a:p>
      </dgm:t>
    </dgm:pt>
    <dgm:pt modelId="{219B5C2A-B3E3-4241-A079-77529B39754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/>
            <a:t>• Identified most influential driver</a:t>
          </a:r>
          <a:br>
            <a:rPr lang="en-US"/>
          </a:br>
          <a:r>
            <a:rPr lang="en-US"/>
            <a:t>Survey accuracy and cost are the most influential factors; improving these parameters can raise project value by ≈ $0.3 M (≈ 45 % gain</a:t>
          </a:r>
          <a:r>
            <a:rPr lang="en-US">
              <a:latin typeface="Aptos Display" panose="02110004020202020204"/>
            </a:rPr>
            <a:t>).</a:t>
          </a:r>
          <a:endParaRPr lang="en-US"/>
        </a:p>
      </dgm:t>
    </dgm:pt>
    <dgm:pt modelId="{628B747A-F900-48BC-A015-72F13EA486B0}" type="parTrans" cxnId="{07260660-AAAD-482C-BF28-0E955112F33C}">
      <dgm:prSet/>
      <dgm:spPr/>
      <dgm:t>
        <a:bodyPr/>
        <a:lstStyle/>
        <a:p>
          <a:endParaRPr lang="en-US"/>
        </a:p>
      </dgm:t>
    </dgm:pt>
    <dgm:pt modelId="{BE8CEC91-0AE7-4A22-A841-37BA8C4D0F04}" type="sibTrans" cxnId="{07260660-AAAD-482C-BF28-0E955112F33C}">
      <dgm:prSet/>
      <dgm:spPr/>
      <dgm:t>
        <a:bodyPr/>
        <a:lstStyle/>
        <a:p>
          <a:endParaRPr lang="en-US"/>
        </a:p>
      </dgm:t>
    </dgm:pt>
    <dgm:pt modelId="{FCFB0432-19D8-4A4B-95D2-223BEB3A47A9}" type="pres">
      <dgm:prSet presAssocID="{F11439EC-194A-4A23-91CF-25A7D364F761}" presName="root" presStyleCnt="0">
        <dgm:presLayoutVars>
          <dgm:dir/>
          <dgm:resizeHandles val="exact"/>
        </dgm:presLayoutVars>
      </dgm:prSet>
      <dgm:spPr/>
    </dgm:pt>
    <dgm:pt modelId="{68E8AE4A-EA66-46CC-A16F-A765A948B626}" type="pres">
      <dgm:prSet presAssocID="{76BEF685-8CAE-47F9-8850-55DFA8FD88DA}" presName="compNode" presStyleCnt="0"/>
      <dgm:spPr/>
    </dgm:pt>
    <dgm:pt modelId="{8FB584EF-3F3C-41D7-93F5-0C7579F95C37}" type="pres">
      <dgm:prSet presAssocID="{76BEF685-8CAE-47F9-8850-55DFA8FD88DA}" presName="bgRect" presStyleLbl="bgShp" presStyleIdx="0" presStyleCnt="3"/>
      <dgm:spPr/>
    </dgm:pt>
    <dgm:pt modelId="{B7EC7470-7C9E-45D0-A77B-B75A4CEB5F24}" type="pres">
      <dgm:prSet presAssocID="{76BEF685-8CAE-47F9-8850-55DFA8FD88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3114138-E0C7-494C-9D6F-B1A33F44CBB3}" type="pres">
      <dgm:prSet presAssocID="{76BEF685-8CAE-47F9-8850-55DFA8FD88DA}" presName="spaceRect" presStyleCnt="0"/>
      <dgm:spPr/>
    </dgm:pt>
    <dgm:pt modelId="{0CEF6E5F-DE05-4505-B251-2DFAB25E115B}" type="pres">
      <dgm:prSet presAssocID="{76BEF685-8CAE-47F9-8850-55DFA8FD88DA}" presName="parTx" presStyleLbl="revTx" presStyleIdx="0" presStyleCnt="3">
        <dgm:presLayoutVars>
          <dgm:chMax val="0"/>
          <dgm:chPref val="0"/>
        </dgm:presLayoutVars>
      </dgm:prSet>
      <dgm:spPr/>
    </dgm:pt>
    <dgm:pt modelId="{7A9B9903-653B-4103-B56F-FE5A520C8B6B}" type="pres">
      <dgm:prSet presAssocID="{BD0A3DE8-5A9D-400B-9A01-14B943DB7D09}" presName="sibTrans" presStyleCnt="0"/>
      <dgm:spPr/>
    </dgm:pt>
    <dgm:pt modelId="{39347085-AFC5-407D-A69B-124305E95035}" type="pres">
      <dgm:prSet presAssocID="{75694E1C-FC2C-416B-875E-D343F4413B76}" presName="compNode" presStyleCnt="0"/>
      <dgm:spPr/>
    </dgm:pt>
    <dgm:pt modelId="{A4D98205-97BB-43FC-A048-D8ABB740567A}" type="pres">
      <dgm:prSet presAssocID="{75694E1C-FC2C-416B-875E-D343F4413B76}" presName="bgRect" presStyleLbl="bgShp" presStyleIdx="1" presStyleCnt="3"/>
      <dgm:spPr/>
    </dgm:pt>
    <dgm:pt modelId="{A1DBA673-13EF-41C9-BAA1-57D878EAEF94}" type="pres">
      <dgm:prSet presAssocID="{75694E1C-FC2C-416B-875E-D343F4413B7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8A417F4F-4230-4143-A668-625971C26192}" type="pres">
      <dgm:prSet presAssocID="{75694E1C-FC2C-416B-875E-D343F4413B76}" presName="spaceRect" presStyleCnt="0"/>
      <dgm:spPr/>
    </dgm:pt>
    <dgm:pt modelId="{0500200D-9DF5-4CC8-A4EC-1590ACADA8D8}" type="pres">
      <dgm:prSet presAssocID="{75694E1C-FC2C-416B-875E-D343F4413B76}" presName="parTx" presStyleLbl="revTx" presStyleIdx="1" presStyleCnt="3">
        <dgm:presLayoutVars>
          <dgm:chMax val="0"/>
          <dgm:chPref val="0"/>
        </dgm:presLayoutVars>
      </dgm:prSet>
      <dgm:spPr/>
    </dgm:pt>
    <dgm:pt modelId="{ABDB6395-68BD-47D2-8F39-323635F2015B}" type="pres">
      <dgm:prSet presAssocID="{83E7A3AA-DC5F-4385-9325-B43DE74CBF5B}" presName="sibTrans" presStyleCnt="0"/>
      <dgm:spPr/>
    </dgm:pt>
    <dgm:pt modelId="{771F5224-5CC1-4875-955E-E29254DB26C3}" type="pres">
      <dgm:prSet presAssocID="{219B5C2A-B3E3-4241-A079-77529B397540}" presName="compNode" presStyleCnt="0"/>
      <dgm:spPr/>
    </dgm:pt>
    <dgm:pt modelId="{59D4C5C3-41EB-43F0-84AE-6D3B7945851D}" type="pres">
      <dgm:prSet presAssocID="{219B5C2A-B3E3-4241-A079-77529B397540}" presName="bgRect" presStyleLbl="bgShp" presStyleIdx="2" presStyleCnt="3"/>
      <dgm:spPr/>
    </dgm:pt>
    <dgm:pt modelId="{4554C4D8-A021-4710-9DAA-110CA345439A}" type="pres">
      <dgm:prSet presAssocID="{219B5C2A-B3E3-4241-A079-77529B3975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8155D7DA-BE41-4E58-A28E-156CD2BBB42D}" type="pres">
      <dgm:prSet presAssocID="{219B5C2A-B3E3-4241-A079-77529B397540}" presName="spaceRect" presStyleCnt="0"/>
      <dgm:spPr/>
    </dgm:pt>
    <dgm:pt modelId="{DA7E6060-CBFE-4A4B-AA33-AFA4E29B4C31}" type="pres">
      <dgm:prSet presAssocID="{219B5C2A-B3E3-4241-A079-77529B39754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F353D1E-526D-4438-8CED-3C63A62F18A3}" type="presOf" srcId="{76BEF685-8CAE-47F9-8850-55DFA8FD88DA}" destId="{0CEF6E5F-DE05-4505-B251-2DFAB25E115B}" srcOrd="0" destOrd="0" presId="urn:microsoft.com/office/officeart/2018/2/layout/IconVerticalSolidList"/>
    <dgm:cxn modelId="{07260660-AAAD-482C-BF28-0E955112F33C}" srcId="{F11439EC-194A-4A23-91CF-25A7D364F761}" destId="{219B5C2A-B3E3-4241-A079-77529B397540}" srcOrd="2" destOrd="0" parTransId="{628B747A-F900-48BC-A015-72F13EA486B0}" sibTransId="{BE8CEC91-0AE7-4A22-A841-37BA8C4D0F04}"/>
    <dgm:cxn modelId="{DC88DB9A-BD65-44B9-B1BD-C04B1DB483F9}" srcId="{F11439EC-194A-4A23-91CF-25A7D364F761}" destId="{76BEF685-8CAE-47F9-8850-55DFA8FD88DA}" srcOrd="0" destOrd="0" parTransId="{042E4505-959F-46A9-A78A-FE3C2780FD3A}" sibTransId="{BD0A3DE8-5A9D-400B-9A01-14B943DB7D09}"/>
    <dgm:cxn modelId="{23E9779E-9056-4174-A900-D40F25810AFD}" type="presOf" srcId="{75694E1C-FC2C-416B-875E-D343F4413B76}" destId="{0500200D-9DF5-4CC8-A4EC-1590ACADA8D8}" srcOrd="0" destOrd="0" presId="urn:microsoft.com/office/officeart/2018/2/layout/IconVerticalSolidList"/>
    <dgm:cxn modelId="{5F6EC4A4-637A-4DC6-AD42-17B2807E8274}" type="presOf" srcId="{F11439EC-194A-4A23-91CF-25A7D364F761}" destId="{FCFB0432-19D8-4A4B-95D2-223BEB3A47A9}" srcOrd="0" destOrd="0" presId="urn:microsoft.com/office/officeart/2018/2/layout/IconVerticalSolidList"/>
    <dgm:cxn modelId="{AFA27EF4-1C83-4196-84EC-FC54D67B5811}" srcId="{F11439EC-194A-4A23-91CF-25A7D364F761}" destId="{75694E1C-FC2C-416B-875E-D343F4413B76}" srcOrd="1" destOrd="0" parTransId="{DADC06DA-B373-4C55-A5A3-2FA29997DC43}" sibTransId="{83E7A3AA-DC5F-4385-9325-B43DE74CBF5B}"/>
    <dgm:cxn modelId="{8D1CE4F6-37A0-46DF-B5F7-EDF1EA330956}" type="presOf" srcId="{219B5C2A-B3E3-4241-A079-77529B397540}" destId="{DA7E6060-CBFE-4A4B-AA33-AFA4E29B4C31}" srcOrd="0" destOrd="0" presId="urn:microsoft.com/office/officeart/2018/2/layout/IconVerticalSolidList"/>
    <dgm:cxn modelId="{658F4909-AA2F-480C-87CD-3DB5D3DD3820}" type="presParOf" srcId="{FCFB0432-19D8-4A4B-95D2-223BEB3A47A9}" destId="{68E8AE4A-EA66-46CC-A16F-A765A948B626}" srcOrd="0" destOrd="0" presId="urn:microsoft.com/office/officeart/2018/2/layout/IconVerticalSolidList"/>
    <dgm:cxn modelId="{4AC6BED7-FFE0-4EE5-8B53-6E18CE2C17BB}" type="presParOf" srcId="{68E8AE4A-EA66-46CC-A16F-A765A948B626}" destId="{8FB584EF-3F3C-41D7-93F5-0C7579F95C37}" srcOrd="0" destOrd="0" presId="urn:microsoft.com/office/officeart/2018/2/layout/IconVerticalSolidList"/>
    <dgm:cxn modelId="{C7AF06B9-DC24-4778-BAC7-939F16F29892}" type="presParOf" srcId="{68E8AE4A-EA66-46CC-A16F-A765A948B626}" destId="{B7EC7470-7C9E-45D0-A77B-B75A4CEB5F24}" srcOrd="1" destOrd="0" presId="urn:microsoft.com/office/officeart/2018/2/layout/IconVerticalSolidList"/>
    <dgm:cxn modelId="{17B9DC3F-FE70-49AE-8312-FB6D15B38EAB}" type="presParOf" srcId="{68E8AE4A-EA66-46CC-A16F-A765A948B626}" destId="{73114138-E0C7-494C-9D6F-B1A33F44CBB3}" srcOrd="2" destOrd="0" presId="urn:microsoft.com/office/officeart/2018/2/layout/IconVerticalSolidList"/>
    <dgm:cxn modelId="{6232FA5E-4F86-4F71-A5F1-B18CC8A46FAD}" type="presParOf" srcId="{68E8AE4A-EA66-46CC-A16F-A765A948B626}" destId="{0CEF6E5F-DE05-4505-B251-2DFAB25E115B}" srcOrd="3" destOrd="0" presId="urn:microsoft.com/office/officeart/2018/2/layout/IconVerticalSolidList"/>
    <dgm:cxn modelId="{D00FFD45-C8B3-4444-AD57-4DA0C5F55512}" type="presParOf" srcId="{FCFB0432-19D8-4A4B-95D2-223BEB3A47A9}" destId="{7A9B9903-653B-4103-B56F-FE5A520C8B6B}" srcOrd="1" destOrd="0" presId="urn:microsoft.com/office/officeart/2018/2/layout/IconVerticalSolidList"/>
    <dgm:cxn modelId="{02A46E0E-EF7C-4582-B49A-0CA714715B8A}" type="presParOf" srcId="{FCFB0432-19D8-4A4B-95D2-223BEB3A47A9}" destId="{39347085-AFC5-407D-A69B-124305E95035}" srcOrd="2" destOrd="0" presId="urn:microsoft.com/office/officeart/2018/2/layout/IconVerticalSolidList"/>
    <dgm:cxn modelId="{5FAEE7E9-EDC9-41E4-8FFC-13D983290342}" type="presParOf" srcId="{39347085-AFC5-407D-A69B-124305E95035}" destId="{A4D98205-97BB-43FC-A048-D8ABB740567A}" srcOrd="0" destOrd="0" presId="urn:microsoft.com/office/officeart/2018/2/layout/IconVerticalSolidList"/>
    <dgm:cxn modelId="{F120C406-E3C5-4A9A-A0FB-0FC86C546CE2}" type="presParOf" srcId="{39347085-AFC5-407D-A69B-124305E95035}" destId="{A1DBA673-13EF-41C9-BAA1-57D878EAEF94}" srcOrd="1" destOrd="0" presId="urn:microsoft.com/office/officeart/2018/2/layout/IconVerticalSolidList"/>
    <dgm:cxn modelId="{E0CBF995-8CF2-4BBA-906D-234CED3DD722}" type="presParOf" srcId="{39347085-AFC5-407D-A69B-124305E95035}" destId="{8A417F4F-4230-4143-A668-625971C26192}" srcOrd="2" destOrd="0" presId="urn:microsoft.com/office/officeart/2018/2/layout/IconVerticalSolidList"/>
    <dgm:cxn modelId="{59A027DB-990F-435F-8B8D-150F4E8C5024}" type="presParOf" srcId="{39347085-AFC5-407D-A69B-124305E95035}" destId="{0500200D-9DF5-4CC8-A4EC-1590ACADA8D8}" srcOrd="3" destOrd="0" presId="urn:microsoft.com/office/officeart/2018/2/layout/IconVerticalSolidList"/>
    <dgm:cxn modelId="{C6D0E2CD-01E9-4A94-81DC-ED807216DEE4}" type="presParOf" srcId="{FCFB0432-19D8-4A4B-95D2-223BEB3A47A9}" destId="{ABDB6395-68BD-47D2-8F39-323635F2015B}" srcOrd="3" destOrd="0" presId="urn:microsoft.com/office/officeart/2018/2/layout/IconVerticalSolidList"/>
    <dgm:cxn modelId="{5A6C702E-5793-4610-A591-7CBFC151107B}" type="presParOf" srcId="{FCFB0432-19D8-4A4B-95D2-223BEB3A47A9}" destId="{771F5224-5CC1-4875-955E-E29254DB26C3}" srcOrd="4" destOrd="0" presId="urn:microsoft.com/office/officeart/2018/2/layout/IconVerticalSolidList"/>
    <dgm:cxn modelId="{F0B6A1BA-4E24-4F7A-801F-67C3A0EAE8CE}" type="presParOf" srcId="{771F5224-5CC1-4875-955E-E29254DB26C3}" destId="{59D4C5C3-41EB-43F0-84AE-6D3B7945851D}" srcOrd="0" destOrd="0" presId="urn:microsoft.com/office/officeart/2018/2/layout/IconVerticalSolidList"/>
    <dgm:cxn modelId="{B15DD8D9-57F0-4995-8CC1-7EE68BB304B0}" type="presParOf" srcId="{771F5224-5CC1-4875-955E-E29254DB26C3}" destId="{4554C4D8-A021-4710-9DAA-110CA345439A}" srcOrd="1" destOrd="0" presId="urn:microsoft.com/office/officeart/2018/2/layout/IconVerticalSolidList"/>
    <dgm:cxn modelId="{80730E14-7517-4D87-A574-9DACB3878189}" type="presParOf" srcId="{771F5224-5CC1-4875-955E-E29254DB26C3}" destId="{8155D7DA-BE41-4E58-A28E-156CD2BBB42D}" srcOrd="2" destOrd="0" presId="urn:microsoft.com/office/officeart/2018/2/layout/IconVerticalSolidList"/>
    <dgm:cxn modelId="{CA153D4A-1FA0-45AC-92F0-CC8B6044C0FB}" type="presParOf" srcId="{771F5224-5CC1-4875-955E-E29254DB26C3}" destId="{DA7E6060-CBFE-4A4B-AA33-AFA4E29B4C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584EF-3F3C-41D7-93F5-0C7579F95C37}">
      <dsp:nvSpPr>
        <dsp:cNvPr id="0" name=""/>
        <dsp:cNvSpPr/>
      </dsp:nvSpPr>
      <dsp:spPr>
        <a:xfrm>
          <a:off x="0" y="2156"/>
          <a:ext cx="6179581" cy="11033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C7470-7C9E-45D0-A77B-B75A4CEB5F24}">
      <dsp:nvSpPr>
        <dsp:cNvPr id="0" name=""/>
        <dsp:cNvSpPr/>
      </dsp:nvSpPr>
      <dsp:spPr>
        <a:xfrm>
          <a:off x="333768" y="250414"/>
          <a:ext cx="607445" cy="6068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F6E5F-DE05-4505-B251-2DFAB25E115B}">
      <dsp:nvSpPr>
        <dsp:cNvPr id="0" name=""/>
        <dsp:cNvSpPr/>
      </dsp:nvSpPr>
      <dsp:spPr>
        <a:xfrm>
          <a:off x="1274983" y="2156"/>
          <a:ext cx="4735355" cy="1104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87" tIns="116887" rIns="116887" bIns="116887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• Tested impact of key assumptions</a:t>
          </a:r>
          <a:br>
            <a:rPr lang="en-US" sz="1400" kern="1200"/>
          </a:br>
          <a:r>
            <a:rPr lang="en-US" sz="1400" kern="1200"/>
            <a:t>Varied hydrogeological survey cost from –$300 K to 0 to see how profitability changed.</a:t>
          </a:r>
          <a:br>
            <a:rPr lang="en-US" sz="1400" kern="1200"/>
          </a:br>
          <a:r>
            <a:rPr lang="en-US" sz="1400" kern="1200"/>
            <a:t>Expected value rose steadily from ≈ $0.65 M to $0.95 M as survey cost decreased or accuracy improved.</a:t>
          </a:r>
        </a:p>
      </dsp:txBody>
      <dsp:txXfrm>
        <a:off x="1274983" y="2156"/>
        <a:ext cx="4735355" cy="1104446"/>
      </dsp:txXfrm>
    </dsp:sp>
    <dsp:sp modelId="{A4D98205-97BB-43FC-A048-D8ABB740567A}">
      <dsp:nvSpPr>
        <dsp:cNvPr id="0" name=""/>
        <dsp:cNvSpPr/>
      </dsp:nvSpPr>
      <dsp:spPr>
        <a:xfrm>
          <a:off x="0" y="1327492"/>
          <a:ext cx="6179581" cy="11033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BA673-13EF-41C9-BAA1-57D878EAEF94}">
      <dsp:nvSpPr>
        <dsp:cNvPr id="0" name=""/>
        <dsp:cNvSpPr/>
      </dsp:nvSpPr>
      <dsp:spPr>
        <a:xfrm>
          <a:off x="333768" y="1575750"/>
          <a:ext cx="607445" cy="6068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0200D-9DF5-4CC8-A4EC-1590ACADA8D8}">
      <dsp:nvSpPr>
        <dsp:cNvPr id="0" name=""/>
        <dsp:cNvSpPr/>
      </dsp:nvSpPr>
      <dsp:spPr>
        <a:xfrm>
          <a:off x="1274983" y="1327492"/>
          <a:ext cx="4735355" cy="1104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87" tIns="116887" rIns="116887" bIns="116887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• Explored best-case, worst-case, and most-likely scenarios</a:t>
          </a:r>
          <a:br>
            <a:rPr lang="en-US" sz="1400" kern="1200"/>
          </a:br>
          <a:r>
            <a:rPr lang="en-US" sz="1400" kern="1200"/>
            <a:t>Found that once survey cost drops </a:t>
          </a:r>
          <a:r>
            <a:rPr lang="en-US" sz="1400" b="0" kern="1200"/>
            <a:t>below $285 K</a:t>
          </a:r>
          <a:r>
            <a:rPr lang="en-US" sz="1400" kern="1200"/>
            <a:t>, the project’s expected value starts to increase </a:t>
          </a:r>
          <a:r>
            <a:rPr lang="en-US" sz="1400" kern="1200">
              <a:latin typeface="Aptos Display" panose="02110004020202020204"/>
            </a:rPr>
            <a:t>, </a:t>
          </a:r>
          <a:r>
            <a:rPr lang="en-US" sz="1400" kern="1200"/>
            <a:t>making the survey financially worthwhile.</a:t>
          </a:r>
        </a:p>
      </dsp:txBody>
      <dsp:txXfrm>
        <a:off x="1274983" y="1327492"/>
        <a:ext cx="4735355" cy="1104446"/>
      </dsp:txXfrm>
    </dsp:sp>
    <dsp:sp modelId="{59D4C5C3-41EB-43F0-84AE-6D3B7945851D}">
      <dsp:nvSpPr>
        <dsp:cNvPr id="0" name=""/>
        <dsp:cNvSpPr/>
      </dsp:nvSpPr>
      <dsp:spPr>
        <a:xfrm>
          <a:off x="0" y="2652827"/>
          <a:ext cx="6179581" cy="11033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4C4D8-A021-4710-9DAA-110CA345439A}">
      <dsp:nvSpPr>
        <dsp:cNvPr id="0" name=""/>
        <dsp:cNvSpPr/>
      </dsp:nvSpPr>
      <dsp:spPr>
        <a:xfrm>
          <a:off x="333768" y="2901085"/>
          <a:ext cx="607445" cy="6068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E6060-CBFE-4A4B-AA33-AFA4E29B4C31}">
      <dsp:nvSpPr>
        <dsp:cNvPr id="0" name=""/>
        <dsp:cNvSpPr/>
      </dsp:nvSpPr>
      <dsp:spPr>
        <a:xfrm>
          <a:off x="1274983" y="2652827"/>
          <a:ext cx="4735355" cy="1104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87" tIns="116887" rIns="116887" bIns="116887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• Identified most influential driver</a:t>
          </a:r>
          <a:br>
            <a:rPr lang="en-US" sz="1400" kern="1200"/>
          </a:br>
          <a:r>
            <a:rPr lang="en-US" sz="1400" kern="1200"/>
            <a:t>Survey accuracy and cost are the most influential factors; improving these parameters can raise project value by ≈ $0.3 M (≈ 45 % gain</a:t>
          </a:r>
          <a:r>
            <a:rPr lang="en-US" sz="1400" kern="1200">
              <a:latin typeface="Aptos Display" panose="02110004020202020204"/>
            </a:rPr>
            <a:t>).</a:t>
          </a:r>
          <a:endParaRPr lang="en-US" sz="1400" kern="1200"/>
        </a:p>
      </dsp:txBody>
      <dsp:txXfrm>
        <a:off x="1274983" y="2652827"/>
        <a:ext cx="4735355" cy="1104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45D8C-4CF3-E54D-966B-8608DE86640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649EA-2879-9F4B-8E5C-569F8AAF2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4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3D54-97F8-7F95-4A43-631CE32B3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6D212-81D8-B056-53F7-AD6B3C3B3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8FC09-7E5E-5A27-8469-BAB5D79B4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71358-57DD-6760-AAF1-29AC9CDC2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18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7DA6-F22E-A5CA-9271-57369878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F5902-F51A-63CD-5517-AB52AFB07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58B56-CF4D-B7D1-742E-94E9862A2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B321D-16D0-2D90-2D25-C76555A7B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01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70DA7-7B7B-7015-DA52-A359E958A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FE02E5-1CAD-BFB1-F89C-106704C98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CAF09-DD52-FB05-3943-7983AF8E7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51BC3-04A1-5922-380C-4B4186C0B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33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960F-C31D-340A-33A9-1D934A7BC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E9181-F2D6-2DCE-ACC1-9025BB0C6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FD04F-5A31-97DE-A1BB-B676E0BB2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DFA90-6723-4459-CB39-830ED9B7C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13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1A36A-3CE9-48FC-934F-BD73D718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2F307-112F-B1F6-C19F-7E74E27D0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095A3-DA1C-0283-C08A-D343A1E75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FD59E-8A3B-5668-42FD-61018C84C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61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C504-9C89-D85F-A0B6-DB3562B5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D7817-9728-5B2D-57D2-7BD6E7A68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400A8-3A6B-4485-664F-8F04A11C8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07A42-A0D9-E2B2-6C71-CAE4A6305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48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A154D-82E6-58BE-87AD-F09D5A28B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E7508-E59E-33FE-69DF-DC68B1E01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C0C6E-7539-1165-5AD2-92D681D87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764F2-A1AE-764D-5BBB-09692CAE4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33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42C3-0F22-BBF5-D192-A482530F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7890F-01F2-45D5-1AF3-7E359FB2D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46E8D-338C-0220-8293-39ACCA56B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E482E-7BB1-7409-97FD-43963721A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5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C324F-C323-01E7-53B5-31EFDD0B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EFBD5-6272-1FFA-6477-9A599A061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234EB-51EB-0941-5509-2C64D8C1D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3F657-B160-BE50-5E22-23540DEFB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08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45F0-BB15-EAB9-5BD7-486CE1F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F09E8-9288-6F9D-B2FC-658B2116B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7237A-D129-8A21-2F7C-494FE4C9A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BACD2-41AC-25BB-A369-E9A252224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72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8C2C-0114-999E-80E0-8E858E53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587BC-FB1E-4571-22AE-E32C16F93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BC86F-E19C-0492-A91B-DEE187478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B08BF-1E02-0F69-F7D4-477465BD5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75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085F-31B1-8381-FB34-C07BC91E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62525-7D89-7FD6-E46A-2E35F4A14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E171E-42A0-F923-F095-309EF6571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2DBA9-6B10-72DB-BDF7-6E9F285C6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85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C7B9-DF9E-3D5F-CACC-A0B4C622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706B2-754C-1CE6-A81C-426321F8E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68962-9EDD-AEF1-B722-E93A087B4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688-ADB7-E2E5-A02C-DD0CDB735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6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4C6AC-8F05-581C-82DF-C2C3D8F9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8000E-DE4C-94EA-7B9C-B3CF3C3CE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3A2C9-21F6-1A14-502E-563614E28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91D42-832D-F460-CDED-52ADD18B3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39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C82AE-AA65-7DBE-3412-95D3E097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3E519-9017-0BC6-76AB-E45BCDB30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FA7ED-0C5F-B43F-70C6-B28AFDFC5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A833-FB36-4D2B-503D-E2F11EDB5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16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295B-74B2-57CC-DEAA-BE4945C8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7CB4C-FCEA-FC07-17A6-00B0C5760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5E476-8268-4309-40F4-B9F68EEC6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76B96-0E69-2EC4-B66B-7F23AEA65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65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81D3-F6E1-45BC-B73C-575B92DF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4B241-A293-32BC-5F15-16C59ABB3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0E061-22DD-99A4-A264-E0679F5F8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0885A-D6AB-5013-D2E5-26BF829E5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2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DC3C-B9A8-967E-2006-579959D99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B88BF-BBF8-CA3E-910B-0B2FD5E88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6BC17-D59D-F018-F8CC-A681F91CA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BE33E-7B0B-761E-0239-B091A107F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66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3365-3F22-3F27-EB51-F2890D9E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F57D9-4F2D-07C2-444C-65F2C6AED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93356-EE10-59BC-EC29-3627892A3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Big investment, multiple possibilities, unknown impacts =&gt; simulate scenarios and get the numbers</a:t>
            </a:r>
          </a:p>
          <a:p>
            <a:pPr algn="just"/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200">
                <a:solidFill>
                  <a:schemeClr val="bg1"/>
                </a:solidFill>
                <a:latin typeface="Arial" panose="020B0604020202020204" pitchFamily="34" charset="0"/>
              </a:rPr>
              <a:t>Decide based on simulations which scenario provides the best trade-off =&gt; Monte Carlo Simulation (Risk Software)</a:t>
            </a:r>
          </a:p>
          <a:p>
            <a:pPr algn="just"/>
            <a:br>
              <a:rPr lang="en-US" sz="1200">
                <a:solidFill>
                  <a:schemeClr val="bg1"/>
                </a:solidFill>
              </a:rPr>
            </a:br>
            <a:endParaRPr lang="en-US" sz="1200">
              <a:solidFill>
                <a:schemeClr val="bg1"/>
              </a:solidFill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F4214-44A5-D027-8C66-2A38520A1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649EA-2879-9F4B-8E5C-569F8AAF239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D25ED-765F-0A9C-691B-962E2A18F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FA67F-DC4D-4205-E3BF-C6CA4FF99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3CFB0-74BB-EC66-EB89-08AFC462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8F219-7B17-3456-63AB-B40BD384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7094A-9384-FAD1-3721-3E36DCD9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7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52C2-7639-E4E5-603E-94B268B1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942AE-E06E-9BB7-1AEA-4859B8609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56006-1A08-F53C-0AD1-BC2608DC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DCB21-FB62-57D2-C303-FFDF9367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8E11F-6F6F-212D-2B79-4391C06C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8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50DF-1095-1398-23FA-8874E1BF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B6369-231F-5025-B42E-7C9034CF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C8AA2-66B2-8C94-DDEB-AB353A2D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9FED-D118-FD95-840A-2C245591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D49D8-F9D6-C9BB-AD73-E509F482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0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7C23-781D-29F7-0322-A715E63A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9BC0A-8825-4977-B23E-C465E71A5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82DBE-D538-C193-C36D-ABE82DC1F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4E642-9DCD-E379-8BF7-5DD7EBB56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D54F5-4116-21BD-DCD8-DDD991A2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3353E-5778-378B-FEF8-C2ADA588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7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A8FE-951F-5FD1-9AA8-593C5042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0E6A5-43A2-4660-E0EE-A3750DDA0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361AB-033A-8835-69F2-1B16F42BD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54F50-659F-3FEC-C864-CDA9FC62B2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0691E-49E8-38BD-2687-D0E23CB19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74263-BA2C-DC44-7D6A-1D151564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2B44A1-F2F3-C0D6-6369-C3B04339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1143E-5C07-A33A-F0CD-3BD31BDE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1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6581-CB5B-822A-1ECC-B7AA2BBA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BBAD5F-8470-3C51-806B-3630F4C1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537EF-437D-468D-3BA2-903D64BF9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A8231-ED3D-B616-1A3A-1224A0B8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2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E50E9-1F26-3CD6-DE43-247AA597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B393D-7D19-B77B-4217-EF6F61EA2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4ED2-2584-A35D-AEF1-08D386FA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E03F-9B3E-4E57-62AA-65555EB00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13B1-4F54-1957-975F-AD56A450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8317C-CC55-2181-9DC3-5DADB4916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90967-93C4-D888-5724-A10B02713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37FA7-BD16-0475-9963-B7AA5EAE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031D7-E7FF-B9AD-3334-A222B105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02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8E10-5C33-12FC-B500-696CE4A25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6BDA4-4671-0630-4EB7-9F38D072E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7DD86-0099-D860-1820-DEC40AF32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E5AF2-EA7A-9E26-9C84-243B4AB0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4FA0A-5E62-CE66-BE78-F1E1FFC7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AD74C-EA60-31A7-9AF9-9778A171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0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E388-58A4-FAF8-26B6-E00A6890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B9EAA-B5A0-BDF7-C9FA-DC8D219D0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FCC18-E3E0-B7C6-E10D-8D9C39A3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8526E-7E7C-B2D3-40A8-D04924A5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F3486-4B7D-2B53-89E3-6DBA3C60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6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051F27-0A50-28F3-9578-781436E21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D80CC-F1F8-F292-A5BE-E43E5CA87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9361D-2CE4-EEB9-86B8-D5948062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986AB-1FF2-766D-753D-697C3B12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41543-87EB-9AD4-2E9D-AC57F003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15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Title slide ALT 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304800" y="2318600"/>
            <a:ext cx="58704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2"/>
          </p:nvPr>
        </p:nvSpPr>
        <p:spPr>
          <a:xfrm>
            <a:off x="427500" y="6234633"/>
            <a:ext cx="3600000" cy="31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3"/>
          </p:nvPr>
        </p:nvSpPr>
        <p:spPr>
          <a:xfrm>
            <a:off x="6288987" y="6234633"/>
            <a:ext cx="3059600" cy="31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4"/>
          </p:nvPr>
        </p:nvSpPr>
        <p:spPr>
          <a:xfrm>
            <a:off x="9145600" y="6244967"/>
            <a:ext cx="2742000" cy="30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878400" cy="18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>
            <a:off x="396100" y="5567867"/>
            <a:ext cx="16864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6"/>
          </p:nvPr>
        </p:nvSpPr>
        <p:spPr>
          <a:xfrm>
            <a:off x="2381833" y="5567867"/>
            <a:ext cx="16864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7"/>
          </p:nvPr>
        </p:nvSpPr>
        <p:spPr>
          <a:xfrm>
            <a:off x="304788" y="4605967"/>
            <a:ext cx="6212800" cy="33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8"/>
          </p:nvPr>
        </p:nvSpPr>
        <p:spPr>
          <a:xfrm>
            <a:off x="304788" y="4990733"/>
            <a:ext cx="6212800" cy="33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6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6369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733CB-B41E-C30D-71B1-E02F6B17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C46EB-58AE-9E61-888E-0D1F12BC9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189E-2470-41FB-CACF-E76D07AB6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427AE-7BE5-5847-B30C-8481FF193B5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B7705-8D3C-81E8-D140-924FE1BF4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762FB-1051-24C6-9889-756851C8F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91F6B-AAC3-C446-BAAC-90A00F087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9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flickr.com/photos/argonne/3463107424/" TargetMode="Externa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A94E9-D57E-6651-EE99-CAA23F6D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3FDFDFF9-498C-9ADF-8513-D3CF449B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CD58FB00-0377-B59C-1A58-AE3A7CA34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86E0C134-9B7D-F13C-2EBF-18DEB56F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793EA89A-8CA6-358E-3612-AF9F87E81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50D4EC8-497E-4345-3DC6-56DE6DC6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b="1">
                <a:solidFill>
                  <a:schemeClr val="bg1"/>
                </a:solidFill>
              </a:rPr>
              <a:t>GreenFleet : </a:t>
            </a:r>
            <a:r>
              <a:rPr lang="en-US" sz="4000" b="1">
                <a:solidFill>
                  <a:schemeClr val="bg1"/>
                </a:solidFill>
              </a:rPr>
              <a:t>Capstone Presentation</a:t>
            </a:r>
            <a:endParaRPr lang="en-US" sz="4000" b="1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BCC3A74E-85A6-4C6E-37F3-9259307E3B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9237" y="6457071"/>
            <a:ext cx="712762" cy="40092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563;p55">
            <a:extLst>
              <a:ext uri="{FF2B5EF4-FFF2-40B4-BE49-F238E27FC236}">
                <a16:creationId xmlns:a16="http://schemas.microsoft.com/office/drawing/2014/main" id="{0A70463D-E3CE-12C9-18F3-4A1656E62585}"/>
              </a:ext>
            </a:extLst>
          </p:cNvPr>
          <p:cNvSpPr txBox="1">
            <a:spLocks/>
          </p:cNvSpPr>
          <p:nvPr/>
        </p:nvSpPr>
        <p:spPr>
          <a:xfrm>
            <a:off x="824089" y="3104444"/>
            <a:ext cx="29208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47" name="Google Shape;567;p55">
            <a:extLst>
              <a:ext uri="{FF2B5EF4-FFF2-40B4-BE49-F238E27FC236}">
                <a16:creationId xmlns:a16="http://schemas.microsoft.com/office/drawing/2014/main" id="{A7567779-4D82-0A77-0515-7EA2DD066C0F}"/>
              </a:ext>
            </a:extLst>
          </p:cNvPr>
          <p:cNvSpPr txBox="1">
            <a:spLocks/>
          </p:cNvSpPr>
          <p:nvPr/>
        </p:nvSpPr>
        <p:spPr>
          <a:xfrm>
            <a:off x="824089" y="6717052"/>
            <a:ext cx="29208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48" name="Google Shape;568;p55">
            <a:extLst>
              <a:ext uri="{FF2B5EF4-FFF2-40B4-BE49-F238E27FC236}">
                <a16:creationId xmlns:a16="http://schemas.microsoft.com/office/drawing/2014/main" id="{A7A58CB1-4720-1971-2518-DBBD262E0128}"/>
              </a:ext>
            </a:extLst>
          </p:cNvPr>
          <p:cNvSpPr txBox="1">
            <a:spLocks/>
          </p:cNvSpPr>
          <p:nvPr/>
        </p:nvSpPr>
        <p:spPr>
          <a:xfrm>
            <a:off x="824089" y="7616152"/>
            <a:ext cx="29208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49" name="Google Shape;569;p55">
            <a:extLst>
              <a:ext uri="{FF2B5EF4-FFF2-40B4-BE49-F238E27FC236}">
                <a16:creationId xmlns:a16="http://schemas.microsoft.com/office/drawing/2014/main" id="{CC2B5D6D-22B4-C31D-F2F6-72AEADC6C3F4}"/>
              </a:ext>
            </a:extLst>
          </p:cNvPr>
          <p:cNvSpPr txBox="1">
            <a:spLocks/>
          </p:cNvSpPr>
          <p:nvPr/>
        </p:nvSpPr>
        <p:spPr>
          <a:xfrm>
            <a:off x="2513569" y="3104444"/>
            <a:ext cx="295940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 rtl="0">
              <a:buClrTx/>
              <a:buFontTx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Background</a:t>
            </a:r>
          </a:p>
        </p:txBody>
      </p:sp>
      <p:sp>
        <p:nvSpPr>
          <p:cNvPr id="51" name="Google Shape;571;p55">
            <a:extLst>
              <a:ext uri="{FF2B5EF4-FFF2-40B4-BE49-F238E27FC236}">
                <a16:creationId xmlns:a16="http://schemas.microsoft.com/office/drawing/2014/main" id="{8D320A5E-6EA7-FB44-B174-078460C3A41C}"/>
              </a:ext>
            </a:extLst>
          </p:cNvPr>
          <p:cNvSpPr txBox="1">
            <a:spLocks/>
          </p:cNvSpPr>
          <p:nvPr/>
        </p:nvSpPr>
        <p:spPr>
          <a:xfrm>
            <a:off x="557455" y="3038887"/>
            <a:ext cx="4920811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Proposed Solution</a:t>
            </a:r>
          </a:p>
        </p:txBody>
      </p:sp>
      <p:sp>
        <p:nvSpPr>
          <p:cNvPr id="54" name="Google Shape;574;p55">
            <a:extLst>
              <a:ext uri="{FF2B5EF4-FFF2-40B4-BE49-F238E27FC236}">
                <a16:creationId xmlns:a16="http://schemas.microsoft.com/office/drawing/2014/main" id="{79A3E41D-D550-DC93-5D27-7EBB26C6BC9A}"/>
              </a:ext>
            </a:extLst>
          </p:cNvPr>
          <p:cNvSpPr txBox="1">
            <a:spLocks/>
          </p:cNvSpPr>
          <p:nvPr/>
        </p:nvSpPr>
        <p:spPr>
          <a:xfrm>
            <a:off x="2513569" y="7616152"/>
            <a:ext cx="295940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Simulation</a:t>
            </a:r>
          </a:p>
        </p:txBody>
      </p:sp>
      <p:pic>
        <p:nvPicPr>
          <p:cNvPr id="1041" name="Google Shape;500;p53">
            <a:extLst>
              <a:ext uri="{FF2B5EF4-FFF2-40B4-BE49-F238E27FC236}">
                <a16:creationId xmlns:a16="http://schemas.microsoft.com/office/drawing/2014/main" id="{D1348206-4A1C-8FAF-0FBE-325EA7DA90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949" y="9129534"/>
            <a:ext cx="641222" cy="655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507;p54">
            <a:extLst>
              <a:ext uri="{FF2B5EF4-FFF2-40B4-BE49-F238E27FC236}">
                <a16:creationId xmlns:a16="http://schemas.microsoft.com/office/drawing/2014/main" id="{ACBE127E-8411-98D5-B2EB-779AFE7B2B03}"/>
              </a:ext>
            </a:extLst>
          </p:cNvPr>
          <p:cNvSpPr txBox="1">
            <a:spLocks/>
          </p:cNvSpPr>
          <p:nvPr/>
        </p:nvSpPr>
        <p:spPr>
          <a:xfrm>
            <a:off x="6118919" y="4225948"/>
            <a:ext cx="1806576" cy="298194"/>
          </a:xfrm>
          <a:prstGeom prst="rect">
            <a:avLst/>
          </a:prstGeom>
        </p:spPr>
        <p:txBody>
          <a:bodyPr spcFirstLastPara="1" vert="horz" wrap="square" lIns="0" tIns="0" rIns="121900" bIns="1219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 sz="28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4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0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/>
            <a:endParaRPr lang="en-US" sz="160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5F5485-7454-B1D5-6A49-1EC6066CD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193" y="2483963"/>
            <a:ext cx="5870400" cy="336000"/>
          </a:xfrm>
        </p:spPr>
        <p:txBody>
          <a:bodyPr/>
          <a:lstStyle/>
          <a:p>
            <a:r>
              <a:rPr lang="en-US"/>
              <a:t>Submitted to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Submitted by </a:t>
            </a:r>
          </a:p>
          <a:p>
            <a:endParaRPr lang="en-US"/>
          </a:p>
        </p:txBody>
      </p:sp>
      <p:grpSp>
        <p:nvGrpSpPr>
          <p:cNvPr id="5" name="Google Shape;484;p53">
            <a:extLst>
              <a:ext uri="{FF2B5EF4-FFF2-40B4-BE49-F238E27FC236}">
                <a16:creationId xmlns:a16="http://schemas.microsoft.com/office/drawing/2014/main" id="{6071E739-4D9D-803B-568E-9C4F873AB5B2}"/>
              </a:ext>
            </a:extLst>
          </p:cNvPr>
          <p:cNvGrpSpPr/>
          <p:nvPr/>
        </p:nvGrpSpPr>
        <p:grpSpPr>
          <a:xfrm>
            <a:off x="2716044" y="4807152"/>
            <a:ext cx="310792" cy="310792"/>
            <a:chOff x="259788" y="1923155"/>
            <a:chExt cx="409800" cy="409800"/>
          </a:xfrm>
        </p:grpSpPr>
        <p:sp>
          <p:nvSpPr>
            <p:cNvPr id="6" name="Google Shape;485;p53">
              <a:extLst>
                <a:ext uri="{FF2B5EF4-FFF2-40B4-BE49-F238E27FC236}">
                  <a16:creationId xmlns:a16="http://schemas.microsoft.com/office/drawing/2014/main" id="{51C4AAC2-73F1-FF02-EBC4-4A98FF7115B5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8" name="Google Shape;486;p53">
              <a:extLst>
                <a:ext uri="{FF2B5EF4-FFF2-40B4-BE49-F238E27FC236}">
                  <a16:creationId xmlns:a16="http://schemas.microsoft.com/office/drawing/2014/main" id="{F21E17D7-7F95-5F5D-38B5-FC4A5A3C44A3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9" name="Google Shape;487;p53">
                <a:extLst>
                  <a:ext uri="{FF2B5EF4-FFF2-40B4-BE49-F238E27FC236}">
                    <a16:creationId xmlns:a16="http://schemas.microsoft.com/office/drawing/2014/main" id="{E5AD15E1-8CD1-B8D8-E22D-2A20BD4F1CE0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" name="Google Shape;488;p53">
                <a:extLst>
                  <a:ext uri="{FF2B5EF4-FFF2-40B4-BE49-F238E27FC236}">
                    <a16:creationId xmlns:a16="http://schemas.microsoft.com/office/drawing/2014/main" id="{54CDBEC3-C734-02C9-08CD-69BC1ACCA9EA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1" name="Google Shape;484;p53">
            <a:extLst>
              <a:ext uri="{FF2B5EF4-FFF2-40B4-BE49-F238E27FC236}">
                <a16:creationId xmlns:a16="http://schemas.microsoft.com/office/drawing/2014/main" id="{C5BF25DA-0C65-328F-D4BE-547D55F779F3}"/>
              </a:ext>
            </a:extLst>
          </p:cNvPr>
          <p:cNvGrpSpPr/>
          <p:nvPr/>
        </p:nvGrpSpPr>
        <p:grpSpPr>
          <a:xfrm>
            <a:off x="2716044" y="2479781"/>
            <a:ext cx="308510" cy="310792"/>
            <a:chOff x="259788" y="1923155"/>
            <a:chExt cx="409800" cy="409800"/>
          </a:xfrm>
        </p:grpSpPr>
        <p:sp>
          <p:nvSpPr>
            <p:cNvPr id="12" name="Google Shape;485;p53">
              <a:extLst>
                <a:ext uri="{FF2B5EF4-FFF2-40B4-BE49-F238E27FC236}">
                  <a16:creationId xmlns:a16="http://schemas.microsoft.com/office/drawing/2014/main" id="{A8405D2C-C592-8EF9-1422-7C26DAAA02BC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" name="Google Shape;486;p53">
              <a:extLst>
                <a:ext uri="{FF2B5EF4-FFF2-40B4-BE49-F238E27FC236}">
                  <a16:creationId xmlns:a16="http://schemas.microsoft.com/office/drawing/2014/main" id="{81D48007-4BF9-1988-0991-27D3830FBF11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4" name="Google Shape;487;p53">
                <a:extLst>
                  <a:ext uri="{FF2B5EF4-FFF2-40B4-BE49-F238E27FC236}">
                    <a16:creationId xmlns:a16="http://schemas.microsoft.com/office/drawing/2014/main" id="{C123E55A-9315-914D-98D9-F3408B316A12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488;p53">
                <a:extLst>
                  <a:ext uri="{FF2B5EF4-FFF2-40B4-BE49-F238E27FC236}">
                    <a16:creationId xmlns:a16="http://schemas.microsoft.com/office/drawing/2014/main" id="{8DDA84F2-4D02-0223-55E8-E04BB0027C9A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" name="Google Shape;482;p53">
            <a:extLst>
              <a:ext uri="{FF2B5EF4-FFF2-40B4-BE49-F238E27FC236}">
                <a16:creationId xmlns:a16="http://schemas.microsoft.com/office/drawing/2014/main" id="{A72151AF-6046-1C3A-4338-16D5D059870D}"/>
              </a:ext>
            </a:extLst>
          </p:cNvPr>
          <p:cNvSpPr/>
          <p:nvPr/>
        </p:nvSpPr>
        <p:spPr>
          <a:xfrm>
            <a:off x="537193" y="5552894"/>
            <a:ext cx="1880567" cy="45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600" b="1">
              <a:latin typeface="+mj-l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483;p53">
            <a:extLst>
              <a:ext uri="{FF2B5EF4-FFF2-40B4-BE49-F238E27FC236}">
                <a16:creationId xmlns:a16="http://schemas.microsoft.com/office/drawing/2014/main" id="{8D73D631-2AA6-8680-1B33-61A98A0CF3B1}"/>
              </a:ext>
            </a:extLst>
          </p:cNvPr>
          <p:cNvSpPr/>
          <p:nvPr/>
        </p:nvSpPr>
        <p:spPr>
          <a:xfrm>
            <a:off x="2539592" y="5552894"/>
            <a:ext cx="1985733" cy="45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600" b="1">
              <a:latin typeface="+mj-l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491;p53">
            <a:extLst>
              <a:ext uri="{FF2B5EF4-FFF2-40B4-BE49-F238E27FC236}">
                <a16:creationId xmlns:a16="http://schemas.microsoft.com/office/drawing/2014/main" id="{79E471CB-154E-EE8E-44D2-8B2558D4597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43460" y="5636261"/>
            <a:ext cx="1686400" cy="3048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 algn="ctr"/>
            <a:r>
              <a:rPr lang="en" sz="1600" b="1">
                <a:solidFill>
                  <a:schemeClr val="tx1"/>
                </a:solidFill>
                <a:latin typeface="+mj-lt"/>
              </a:rPr>
              <a:t>Kinnari Parikh</a:t>
            </a:r>
            <a:endParaRPr sz="1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Google Shape;496;p53">
            <a:extLst>
              <a:ext uri="{FF2B5EF4-FFF2-40B4-BE49-F238E27FC236}">
                <a16:creationId xmlns:a16="http://schemas.microsoft.com/office/drawing/2014/main" id="{B570AA6F-9054-E1B2-4E91-52DDDE2219B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675460" y="5636261"/>
            <a:ext cx="1686400" cy="3048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 algn="ctr"/>
            <a:r>
              <a:rPr lang="en-US" sz="1600" b="1">
                <a:solidFill>
                  <a:schemeClr val="tx1"/>
                </a:solidFill>
                <a:latin typeface="+mj-lt"/>
              </a:rPr>
              <a:t>Neha Tiwari</a:t>
            </a:r>
            <a:endParaRPr sz="1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Google Shape;493;p53">
            <a:extLst>
              <a:ext uri="{FF2B5EF4-FFF2-40B4-BE49-F238E27FC236}">
                <a16:creationId xmlns:a16="http://schemas.microsoft.com/office/drawing/2014/main" id="{FDC32B50-1C4F-07A0-F705-7A36855E028F}"/>
              </a:ext>
            </a:extLst>
          </p:cNvPr>
          <p:cNvSpPr/>
          <p:nvPr/>
        </p:nvSpPr>
        <p:spPr>
          <a:xfrm>
            <a:off x="4873363" y="5552894"/>
            <a:ext cx="1985733" cy="45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600" b="1">
                <a:latin typeface="+mj-lt"/>
                <a:ea typeface="Urbanist"/>
                <a:cs typeface="Urbanist"/>
                <a:sym typeface="Urbanist"/>
              </a:rPr>
              <a:t>Niketha Venkatesh</a:t>
            </a:r>
            <a:endParaRPr sz="1600" b="1">
              <a:latin typeface="+mj-l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494;p53">
            <a:extLst>
              <a:ext uri="{FF2B5EF4-FFF2-40B4-BE49-F238E27FC236}">
                <a16:creationId xmlns:a16="http://schemas.microsoft.com/office/drawing/2014/main" id="{63BE196E-AF65-0243-369E-FAE4BC53D46C}"/>
              </a:ext>
            </a:extLst>
          </p:cNvPr>
          <p:cNvSpPr/>
          <p:nvPr/>
        </p:nvSpPr>
        <p:spPr>
          <a:xfrm>
            <a:off x="7196056" y="5552894"/>
            <a:ext cx="1865600" cy="45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600" b="1">
                <a:latin typeface="+mj-lt"/>
                <a:ea typeface="Urbanist"/>
                <a:cs typeface="Urbanist"/>
                <a:sym typeface="Urbanist"/>
              </a:rPr>
              <a:t>Shriya Kartikeyan</a:t>
            </a:r>
            <a:endParaRPr sz="1600" b="1">
              <a:latin typeface="+mj-l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495;p53">
            <a:extLst>
              <a:ext uri="{FF2B5EF4-FFF2-40B4-BE49-F238E27FC236}">
                <a16:creationId xmlns:a16="http://schemas.microsoft.com/office/drawing/2014/main" id="{EBFAA457-A400-63CB-FA17-56AAC6BBC324}"/>
              </a:ext>
            </a:extLst>
          </p:cNvPr>
          <p:cNvSpPr/>
          <p:nvPr/>
        </p:nvSpPr>
        <p:spPr>
          <a:xfrm>
            <a:off x="9377787" y="5552894"/>
            <a:ext cx="1865600" cy="45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600" b="1">
                <a:latin typeface="+mj-lt"/>
                <a:ea typeface="Urbanist"/>
                <a:cs typeface="Urbanist"/>
                <a:sym typeface="Urbanist"/>
              </a:rPr>
              <a:t>Sahith </a:t>
            </a:r>
            <a:r>
              <a:rPr lang="en-US" sz="1600" b="1" err="1">
                <a:latin typeface="+mj-lt"/>
                <a:ea typeface="Urbanist"/>
                <a:cs typeface="Urbanist"/>
                <a:sym typeface="Urbanist"/>
              </a:rPr>
              <a:t>Mattigunta</a:t>
            </a:r>
            <a:endParaRPr sz="1600" b="1">
              <a:latin typeface="+mj-lt"/>
              <a:ea typeface="Urbanist"/>
              <a:cs typeface="Urbanist"/>
              <a:sym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199481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BC223-1C0D-D84E-F6B3-87A047279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F4FA6C32-D99C-5191-A0D8-B75215498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A7A19878-17CA-53BE-F966-D6917F626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ED2A4035-7624-65E5-6339-152ECB37B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4AC963C3-0FEA-8C4E-6448-20DBBDA9C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9F989C3-2B1C-478A-88EA-F3FEE0C4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" sz="4000" b="1">
                <a:solidFill>
                  <a:schemeClr val="bg2"/>
                </a:solidFill>
              </a:rPr>
              <a:t>Meet the team: </a:t>
            </a:r>
            <a:endParaRPr lang="en-US" sz="4000" b="1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C703E35F-E8FA-CE31-C799-3EF3023E46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9605" y="7558042"/>
            <a:ext cx="641222" cy="65503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563;p55">
            <a:extLst>
              <a:ext uri="{FF2B5EF4-FFF2-40B4-BE49-F238E27FC236}">
                <a16:creationId xmlns:a16="http://schemas.microsoft.com/office/drawing/2014/main" id="{C8F5E41C-5B62-241F-DCDC-1D29A2E5B01F}"/>
              </a:ext>
            </a:extLst>
          </p:cNvPr>
          <p:cNvSpPr txBox="1">
            <a:spLocks/>
          </p:cNvSpPr>
          <p:nvPr/>
        </p:nvSpPr>
        <p:spPr>
          <a:xfrm>
            <a:off x="824089" y="3104444"/>
            <a:ext cx="29208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44" name="Google Shape;564;p55">
            <a:extLst>
              <a:ext uri="{FF2B5EF4-FFF2-40B4-BE49-F238E27FC236}">
                <a16:creationId xmlns:a16="http://schemas.microsoft.com/office/drawing/2014/main" id="{3D5DB5DD-A1E8-0188-4AEB-7BE8050C880C}"/>
              </a:ext>
            </a:extLst>
          </p:cNvPr>
          <p:cNvSpPr txBox="1">
            <a:spLocks/>
          </p:cNvSpPr>
          <p:nvPr/>
        </p:nvSpPr>
        <p:spPr>
          <a:xfrm>
            <a:off x="824089" y="3881720"/>
            <a:ext cx="29208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 algn="l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46" name="Google Shape;566;p55">
            <a:extLst>
              <a:ext uri="{FF2B5EF4-FFF2-40B4-BE49-F238E27FC236}">
                <a16:creationId xmlns:a16="http://schemas.microsoft.com/office/drawing/2014/main" id="{2B96B2BD-C58A-BA26-0FB9-F9D30B5418F6}"/>
              </a:ext>
            </a:extLst>
          </p:cNvPr>
          <p:cNvSpPr txBox="1">
            <a:spLocks/>
          </p:cNvSpPr>
          <p:nvPr/>
        </p:nvSpPr>
        <p:spPr>
          <a:xfrm>
            <a:off x="824089" y="5817986"/>
            <a:ext cx="29208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>
              <a:buClrTx/>
              <a:buFontTx/>
            </a:pPr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47" name="Google Shape;567;p55">
            <a:extLst>
              <a:ext uri="{FF2B5EF4-FFF2-40B4-BE49-F238E27FC236}">
                <a16:creationId xmlns:a16="http://schemas.microsoft.com/office/drawing/2014/main" id="{F8F56DC7-02AA-A327-6E91-D6CBD4371AFF}"/>
              </a:ext>
            </a:extLst>
          </p:cNvPr>
          <p:cNvSpPr txBox="1">
            <a:spLocks/>
          </p:cNvSpPr>
          <p:nvPr/>
        </p:nvSpPr>
        <p:spPr>
          <a:xfrm>
            <a:off x="824089" y="6717052"/>
            <a:ext cx="29208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48" name="Google Shape;568;p55">
            <a:extLst>
              <a:ext uri="{FF2B5EF4-FFF2-40B4-BE49-F238E27FC236}">
                <a16:creationId xmlns:a16="http://schemas.microsoft.com/office/drawing/2014/main" id="{5B7A1269-2A3B-4BF4-2929-88B73B80320A}"/>
              </a:ext>
            </a:extLst>
          </p:cNvPr>
          <p:cNvSpPr txBox="1">
            <a:spLocks/>
          </p:cNvSpPr>
          <p:nvPr/>
        </p:nvSpPr>
        <p:spPr>
          <a:xfrm>
            <a:off x="824089" y="7616152"/>
            <a:ext cx="29208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49" name="Google Shape;569;p55">
            <a:extLst>
              <a:ext uri="{FF2B5EF4-FFF2-40B4-BE49-F238E27FC236}">
                <a16:creationId xmlns:a16="http://schemas.microsoft.com/office/drawing/2014/main" id="{C824B485-1808-2B23-385A-61254A1AEB7C}"/>
              </a:ext>
            </a:extLst>
          </p:cNvPr>
          <p:cNvSpPr txBox="1">
            <a:spLocks/>
          </p:cNvSpPr>
          <p:nvPr/>
        </p:nvSpPr>
        <p:spPr>
          <a:xfrm>
            <a:off x="2513569" y="3104444"/>
            <a:ext cx="295940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 rtl="0">
              <a:buClrTx/>
              <a:buFontTx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Background</a:t>
            </a:r>
          </a:p>
        </p:txBody>
      </p:sp>
      <p:sp>
        <p:nvSpPr>
          <p:cNvPr id="51" name="Google Shape;571;p55">
            <a:extLst>
              <a:ext uri="{FF2B5EF4-FFF2-40B4-BE49-F238E27FC236}">
                <a16:creationId xmlns:a16="http://schemas.microsoft.com/office/drawing/2014/main" id="{F635BC3A-FDA9-03D7-3E21-04BDF2CE8F41}"/>
              </a:ext>
            </a:extLst>
          </p:cNvPr>
          <p:cNvSpPr txBox="1">
            <a:spLocks/>
          </p:cNvSpPr>
          <p:nvPr/>
        </p:nvSpPr>
        <p:spPr>
          <a:xfrm>
            <a:off x="2513569" y="4909611"/>
            <a:ext cx="295940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Proposed Solution</a:t>
            </a:r>
          </a:p>
        </p:txBody>
      </p:sp>
      <p:sp>
        <p:nvSpPr>
          <p:cNvPr id="52" name="Google Shape;572;p55">
            <a:extLst>
              <a:ext uri="{FF2B5EF4-FFF2-40B4-BE49-F238E27FC236}">
                <a16:creationId xmlns:a16="http://schemas.microsoft.com/office/drawing/2014/main" id="{EDEF77CA-70CC-C8FF-7F0D-22C096DF29C1}"/>
              </a:ext>
            </a:extLst>
          </p:cNvPr>
          <p:cNvSpPr txBox="1">
            <a:spLocks/>
          </p:cNvSpPr>
          <p:nvPr/>
        </p:nvSpPr>
        <p:spPr>
          <a:xfrm>
            <a:off x="2513569" y="5817986"/>
            <a:ext cx="295940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 rtl="0">
              <a:buClr>
                <a:schemeClr val="dk1"/>
              </a:buClr>
              <a:buSzPts val="1100"/>
              <a:buFontTx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Decision Tree &amp; Bayes</a:t>
            </a:r>
          </a:p>
        </p:txBody>
      </p:sp>
      <p:sp>
        <p:nvSpPr>
          <p:cNvPr id="54" name="Google Shape;574;p55">
            <a:extLst>
              <a:ext uri="{FF2B5EF4-FFF2-40B4-BE49-F238E27FC236}">
                <a16:creationId xmlns:a16="http://schemas.microsoft.com/office/drawing/2014/main" id="{2C1FE65A-5A96-5DD5-DCEB-CAE3669E21BD}"/>
              </a:ext>
            </a:extLst>
          </p:cNvPr>
          <p:cNvSpPr txBox="1">
            <a:spLocks/>
          </p:cNvSpPr>
          <p:nvPr/>
        </p:nvSpPr>
        <p:spPr>
          <a:xfrm>
            <a:off x="2513569" y="7616152"/>
            <a:ext cx="2959402" cy="558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Simulation</a:t>
            </a:r>
          </a:p>
        </p:txBody>
      </p:sp>
      <p:sp>
        <p:nvSpPr>
          <p:cNvPr id="1026" name="Google Shape;507;p54">
            <a:extLst>
              <a:ext uri="{FF2B5EF4-FFF2-40B4-BE49-F238E27FC236}">
                <a16:creationId xmlns:a16="http://schemas.microsoft.com/office/drawing/2014/main" id="{899B0549-B9C7-01BB-9560-AB5E1215F1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51926" y="4166870"/>
            <a:ext cx="1912575" cy="218458"/>
          </a:xfrm>
          <a:prstGeom prst="rect">
            <a:avLst/>
          </a:prstGeom>
        </p:spPr>
        <p:txBody>
          <a:bodyPr spcFirstLastPara="1" vert="horz" wrap="square" lIns="0" tIns="0" rIns="121900" bIns="121900" rtlCol="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n-US" sz="1600"/>
              <a:t>nvenka30@asu.edu</a:t>
            </a:r>
          </a:p>
        </p:txBody>
      </p:sp>
      <p:sp>
        <p:nvSpPr>
          <p:cNvPr id="1032" name="Google Shape;513;p54">
            <a:extLst>
              <a:ext uri="{FF2B5EF4-FFF2-40B4-BE49-F238E27FC236}">
                <a16:creationId xmlns:a16="http://schemas.microsoft.com/office/drawing/2014/main" id="{94B845AC-99F6-DD5A-54F3-3B5F0EFE854E}"/>
              </a:ext>
            </a:extLst>
          </p:cNvPr>
          <p:cNvSpPr txBox="1">
            <a:spLocks/>
          </p:cNvSpPr>
          <p:nvPr/>
        </p:nvSpPr>
        <p:spPr>
          <a:xfrm>
            <a:off x="7764945" y="4162103"/>
            <a:ext cx="1912575" cy="517115"/>
          </a:xfrm>
          <a:prstGeom prst="rect">
            <a:avLst/>
          </a:prstGeom>
        </p:spPr>
        <p:txBody>
          <a:bodyPr spcFirstLastPara="1" vert="horz" wrap="square" lIns="0" tIns="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1600">
                <a:solidFill>
                  <a:schemeClr val="dk2"/>
                </a:solidFill>
              </a:rPr>
              <a:t>skarth28@asu.edu</a:t>
            </a:r>
          </a:p>
        </p:txBody>
      </p:sp>
      <p:pic>
        <p:nvPicPr>
          <p:cNvPr id="1035" name="Google Shape;517;p54" title="2.10.2025 headshot.jpg">
            <a:extLst>
              <a:ext uri="{FF2B5EF4-FFF2-40B4-BE49-F238E27FC236}">
                <a16:creationId xmlns:a16="http://schemas.microsoft.com/office/drawing/2014/main" id="{AA55F98C-D275-E416-A106-8D81F43F25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1441"/>
          <a:stretch/>
        </p:blipFill>
        <p:spPr>
          <a:xfrm>
            <a:off x="381214" y="1735656"/>
            <a:ext cx="1469232" cy="1952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518;p54">
            <a:extLst>
              <a:ext uri="{FF2B5EF4-FFF2-40B4-BE49-F238E27FC236}">
                <a16:creationId xmlns:a16="http://schemas.microsoft.com/office/drawing/2014/main" id="{AD82C3C5-87E6-409D-4901-8B0906DBCD0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2478" y="1735656"/>
            <a:ext cx="1301081" cy="1952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519;p54" title="Sahith_Headshot.JPG">
            <a:extLst>
              <a:ext uri="{FF2B5EF4-FFF2-40B4-BE49-F238E27FC236}">
                <a16:creationId xmlns:a16="http://schemas.microsoft.com/office/drawing/2014/main" id="{2CD86E48-0F6C-61EF-0D0A-36E620A8190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65342" y="1737173"/>
            <a:ext cx="1301068" cy="195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520;p54">
            <a:extLst>
              <a:ext uri="{FF2B5EF4-FFF2-40B4-BE49-F238E27FC236}">
                <a16:creationId xmlns:a16="http://schemas.microsoft.com/office/drawing/2014/main" id="{D7C5E3EA-A1A4-8412-FFB5-EBEA96CACC9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9461" y="1729221"/>
            <a:ext cx="1301067" cy="193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521;p54" title="Photo.jpg">
            <a:extLst>
              <a:ext uri="{FF2B5EF4-FFF2-40B4-BE49-F238E27FC236}">
                <a16:creationId xmlns:a16="http://schemas.microsoft.com/office/drawing/2014/main" id="{E56378AE-C7A5-F4DE-B132-AA27E1B34E03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5442" y="1735680"/>
            <a:ext cx="1325697" cy="195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500;p53">
            <a:extLst>
              <a:ext uri="{FF2B5EF4-FFF2-40B4-BE49-F238E27FC236}">
                <a16:creationId xmlns:a16="http://schemas.microsoft.com/office/drawing/2014/main" id="{9AB254AB-F4BC-80A6-5B42-C85769B5B6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949" y="9129534"/>
            <a:ext cx="641222" cy="655035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516;p54">
            <a:extLst>
              <a:ext uri="{FF2B5EF4-FFF2-40B4-BE49-F238E27FC236}">
                <a16:creationId xmlns:a16="http://schemas.microsoft.com/office/drawing/2014/main" id="{D9A91414-9BAB-49D8-F88D-26920B7FCC77}"/>
              </a:ext>
            </a:extLst>
          </p:cNvPr>
          <p:cNvSpPr txBox="1">
            <a:spLocks/>
          </p:cNvSpPr>
          <p:nvPr/>
        </p:nvSpPr>
        <p:spPr>
          <a:xfrm>
            <a:off x="292407" y="3695275"/>
            <a:ext cx="1469232" cy="390973"/>
          </a:xfrm>
          <a:prstGeom prst="rect">
            <a:avLst/>
          </a:prstGeom>
        </p:spPr>
        <p:txBody>
          <a:bodyPr spcFirstLastPara="1" vert="horz" wrap="square" lIns="0" tIns="0" rIns="121900" bIns="0" rtlCol="0" anchor="b" anchorCtr="0">
            <a:noAutofit/>
          </a:bodyPr>
          <a:lstStyle>
            <a:lvl1pPr marL="228600" lvl="0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685800" lvl="1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143000" lvl="2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600200" lvl="3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057400" lvl="4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514600" lvl="5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2971800" lvl="6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429000" lvl="7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3886200" lvl="8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-US" sz="1600" b="1"/>
              <a:t>Kinnari Parikh</a:t>
            </a:r>
          </a:p>
        </p:txBody>
      </p:sp>
      <p:sp>
        <p:nvSpPr>
          <p:cNvPr id="1043" name="Google Shape;507;p54">
            <a:extLst>
              <a:ext uri="{FF2B5EF4-FFF2-40B4-BE49-F238E27FC236}">
                <a16:creationId xmlns:a16="http://schemas.microsoft.com/office/drawing/2014/main" id="{C44DDDC4-3271-7352-5804-B42919656643}"/>
              </a:ext>
            </a:extLst>
          </p:cNvPr>
          <p:cNvSpPr txBox="1">
            <a:spLocks/>
          </p:cNvSpPr>
          <p:nvPr/>
        </p:nvSpPr>
        <p:spPr>
          <a:xfrm>
            <a:off x="3038410" y="4194222"/>
            <a:ext cx="1806576" cy="298194"/>
          </a:xfrm>
          <a:prstGeom prst="rect">
            <a:avLst/>
          </a:prstGeom>
        </p:spPr>
        <p:txBody>
          <a:bodyPr spcFirstLastPara="1" vert="horz" wrap="square" lIns="0" tIns="0" rIns="121900" bIns="1219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 sz="28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4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0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/>
            <a:r>
              <a:rPr lang="en-US" sz="1600"/>
              <a:t>ntiwar12@asu.edu</a:t>
            </a:r>
          </a:p>
        </p:txBody>
      </p:sp>
      <p:sp>
        <p:nvSpPr>
          <p:cNvPr id="1044" name="Google Shape;516;p54">
            <a:extLst>
              <a:ext uri="{FF2B5EF4-FFF2-40B4-BE49-F238E27FC236}">
                <a16:creationId xmlns:a16="http://schemas.microsoft.com/office/drawing/2014/main" id="{917B2877-68B5-76F7-A573-1D7886BC85EB}"/>
              </a:ext>
            </a:extLst>
          </p:cNvPr>
          <p:cNvSpPr txBox="1">
            <a:spLocks/>
          </p:cNvSpPr>
          <p:nvPr/>
        </p:nvSpPr>
        <p:spPr>
          <a:xfrm>
            <a:off x="7705747" y="3711199"/>
            <a:ext cx="1877295" cy="375049"/>
          </a:xfrm>
          <a:prstGeom prst="rect">
            <a:avLst/>
          </a:prstGeom>
        </p:spPr>
        <p:txBody>
          <a:bodyPr spcFirstLastPara="1" vert="horz" wrap="square" lIns="0" tIns="0" rIns="121900" bIns="0" rtlCol="0" anchor="b" anchorCtr="0">
            <a:noAutofit/>
          </a:bodyPr>
          <a:lstStyle>
            <a:lvl1pPr marL="228600" lvl="0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685800" lvl="1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143000" lvl="2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600200" lvl="3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057400" lvl="4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514600" lvl="5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2971800" lvl="6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429000" lvl="7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3886200" lvl="8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-US" sz="1600" b="1"/>
              <a:t>Shriya Karthikeyan</a:t>
            </a:r>
          </a:p>
        </p:txBody>
      </p:sp>
      <p:sp>
        <p:nvSpPr>
          <p:cNvPr id="1045" name="Google Shape;507;p54">
            <a:extLst>
              <a:ext uri="{FF2B5EF4-FFF2-40B4-BE49-F238E27FC236}">
                <a16:creationId xmlns:a16="http://schemas.microsoft.com/office/drawing/2014/main" id="{38BEFEC4-8493-C8EB-1CDB-6985BAABEA89}"/>
              </a:ext>
            </a:extLst>
          </p:cNvPr>
          <p:cNvSpPr txBox="1">
            <a:spLocks/>
          </p:cNvSpPr>
          <p:nvPr/>
        </p:nvSpPr>
        <p:spPr>
          <a:xfrm>
            <a:off x="6118919" y="4225948"/>
            <a:ext cx="1806576" cy="298194"/>
          </a:xfrm>
          <a:prstGeom prst="rect">
            <a:avLst/>
          </a:prstGeom>
        </p:spPr>
        <p:txBody>
          <a:bodyPr spcFirstLastPara="1" vert="horz" wrap="square" lIns="0" tIns="0" rIns="121900" bIns="1219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 sz="28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4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0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/>
            <a:endParaRPr lang="en-US" sz="1600"/>
          </a:p>
        </p:txBody>
      </p:sp>
      <p:sp>
        <p:nvSpPr>
          <p:cNvPr id="1046" name="Google Shape;516;p54">
            <a:extLst>
              <a:ext uri="{FF2B5EF4-FFF2-40B4-BE49-F238E27FC236}">
                <a16:creationId xmlns:a16="http://schemas.microsoft.com/office/drawing/2014/main" id="{17885028-E265-965C-5955-D277DD575EC9}"/>
              </a:ext>
            </a:extLst>
          </p:cNvPr>
          <p:cNvSpPr txBox="1">
            <a:spLocks/>
          </p:cNvSpPr>
          <p:nvPr/>
        </p:nvSpPr>
        <p:spPr>
          <a:xfrm>
            <a:off x="5435758" y="3711198"/>
            <a:ext cx="1806575" cy="355473"/>
          </a:xfrm>
          <a:prstGeom prst="rect">
            <a:avLst/>
          </a:prstGeom>
        </p:spPr>
        <p:txBody>
          <a:bodyPr spcFirstLastPara="1" vert="horz" wrap="square" lIns="0" tIns="0" rIns="121900" bIns="0" rtlCol="0" anchor="b" anchorCtr="0">
            <a:noAutofit/>
          </a:bodyPr>
          <a:lstStyle>
            <a:lvl1pPr marL="228600" lvl="0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685800" lvl="1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143000" lvl="2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600200" lvl="3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057400" lvl="4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514600" lvl="5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2971800" lvl="6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429000" lvl="7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3886200" lvl="8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-US" sz="1600" b="1"/>
              <a:t>Niketha Venkatesh</a:t>
            </a:r>
          </a:p>
        </p:txBody>
      </p:sp>
      <p:sp>
        <p:nvSpPr>
          <p:cNvPr id="1047" name="Google Shape;507;p54">
            <a:extLst>
              <a:ext uri="{FF2B5EF4-FFF2-40B4-BE49-F238E27FC236}">
                <a16:creationId xmlns:a16="http://schemas.microsoft.com/office/drawing/2014/main" id="{D8ED5163-6A7F-3BFB-FA5C-870E2CEFD3B0}"/>
              </a:ext>
            </a:extLst>
          </p:cNvPr>
          <p:cNvSpPr txBox="1">
            <a:spLocks/>
          </p:cNvSpPr>
          <p:nvPr/>
        </p:nvSpPr>
        <p:spPr>
          <a:xfrm>
            <a:off x="447885" y="4196395"/>
            <a:ext cx="1806576" cy="298194"/>
          </a:xfrm>
          <a:prstGeom prst="rect">
            <a:avLst/>
          </a:prstGeom>
        </p:spPr>
        <p:txBody>
          <a:bodyPr spcFirstLastPara="1" vert="horz" wrap="square" lIns="0" tIns="0" rIns="121900" bIns="1219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 sz="28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4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0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/>
            <a:r>
              <a:rPr lang="en-US" sz="1600"/>
              <a:t>kparikh3@asu.edu</a:t>
            </a:r>
          </a:p>
        </p:txBody>
      </p:sp>
      <p:sp>
        <p:nvSpPr>
          <p:cNvPr id="1048" name="Google Shape;516;p54">
            <a:extLst>
              <a:ext uri="{FF2B5EF4-FFF2-40B4-BE49-F238E27FC236}">
                <a16:creationId xmlns:a16="http://schemas.microsoft.com/office/drawing/2014/main" id="{594DD635-8B9C-783A-8D0A-DBB698140B50}"/>
              </a:ext>
            </a:extLst>
          </p:cNvPr>
          <p:cNvSpPr txBox="1">
            <a:spLocks/>
          </p:cNvSpPr>
          <p:nvPr/>
        </p:nvSpPr>
        <p:spPr>
          <a:xfrm>
            <a:off x="2702168" y="3675698"/>
            <a:ext cx="1469232" cy="390973"/>
          </a:xfrm>
          <a:prstGeom prst="rect">
            <a:avLst/>
          </a:prstGeom>
        </p:spPr>
        <p:txBody>
          <a:bodyPr spcFirstLastPara="1" vert="horz" wrap="square" lIns="0" tIns="0" rIns="121900" bIns="0" rtlCol="0" anchor="b" anchorCtr="0">
            <a:noAutofit/>
          </a:bodyPr>
          <a:lstStyle>
            <a:lvl1pPr marL="228600" lvl="0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685800" lvl="1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143000" lvl="2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600200" lvl="3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057400" lvl="4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514600" lvl="5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2971800" lvl="6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429000" lvl="7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3886200" lvl="8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-US" sz="1600" b="1"/>
              <a:t>Neha Tiwari</a:t>
            </a:r>
          </a:p>
        </p:txBody>
      </p:sp>
      <p:sp>
        <p:nvSpPr>
          <p:cNvPr id="1049" name="Google Shape;507;p54">
            <a:extLst>
              <a:ext uri="{FF2B5EF4-FFF2-40B4-BE49-F238E27FC236}">
                <a16:creationId xmlns:a16="http://schemas.microsoft.com/office/drawing/2014/main" id="{A98DB002-4B05-57C9-8DEF-C60599EC360A}"/>
              </a:ext>
            </a:extLst>
          </p:cNvPr>
          <p:cNvSpPr txBox="1">
            <a:spLocks/>
          </p:cNvSpPr>
          <p:nvPr/>
        </p:nvSpPr>
        <p:spPr>
          <a:xfrm>
            <a:off x="10402528" y="4156905"/>
            <a:ext cx="2021677" cy="292999"/>
          </a:xfrm>
          <a:prstGeom prst="rect">
            <a:avLst/>
          </a:prstGeom>
        </p:spPr>
        <p:txBody>
          <a:bodyPr spcFirstLastPara="1" vert="horz" wrap="square" lIns="0" tIns="0" rIns="121900" bIns="1219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 sz="2800" kern="1200">
                <a:solidFill>
                  <a:schemeClr val="dk2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4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20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 sz="1800" kern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1600" err="1"/>
              <a:t>vmattigu@asu.edu</a:t>
            </a:r>
            <a:endParaRPr lang="en-US" sz="1600"/>
          </a:p>
        </p:txBody>
      </p:sp>
      <p:sp>
        <p:nvSpPr>
          <p:cNvPr id="1050" name="Google Shape;516;p54">
            <a:extLst>
              <a:ext uri="{FF2B5EF4-FFF2-40B4-BE49-F238E27FC236}">
                <a16:creationId xmlns:a16="http://schemas.microsoft.com/office/drawing/2014/main" id="{850C1F91-B359-2EB6-80E0-ED849FAF5EE7}"/>
              </a:ext>
            </a:extLst>
          </p:cNvPr>
          <p:cNvSpPr txBox="1">
            <a:spLocks/>
          </p:cNvSpPr>
          <p:nvPr/>
        </p:nvSpPr>
        <p:spPr>
          <a:xfrm>
            <a:off x="10156372" y="3635047"/>
            <a:ext cx="1877295" cy="431624"/>
          </a:xfrm>
          <a:prstGeom prst="rect">
            <a:avLst/>
          </a:prstGeom>
        </p:spPr>
        <p:txBody>
          <a:bodyPr spcFirstLastPara="1" vert="horz" wrap="square" lIns="0" tIns="0" rIns="121900" bIns="0" rtlCol="0" anchor="b" anchorCtr="0">
            <a:noAutofit/>
          </a:bodyPr>
          <a:lstStyle>
            <a:lvl1pPr marL="228600" lvl="0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685800" lvl="1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143000" lvl="2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600200" lvl="3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057400" lvl="4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514600" lvl="5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2971800" lvl="6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429000" lvl="7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3886200" lvl="8" indent="-22860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933" kern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-US" sz="1600" b="1"/>
              <a:t>Sahith </a:t>
            </a:r>
            <a:r>
              <a:rPr lang="en-US" sz="1600" b="1" err="1"/>
              <a:t>Mattigunta</a:t>
            </a:r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238045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B71E9-B396-BD2E-8888-D0F69664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22702F5C-AC10-F26C-207E-AED8CDEEC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9DD17ED9-E0F4-7907-AEF5-6A0A7272B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032B9996-F41B-8414-EB79-80D750E80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AE7011D6-0F68-BB00-C67C-E599545B2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6D626D-74EC-CA7E-AF10-74B98DDF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Content</a:t>
            </a: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E4A23EEC-B950-657A-25B5-605AED67C7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7999" y="6344037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26;p55">
            <a:extLst>
              <a:ext uri="{FF2B5EF4-FFF2-40B4-BE49-F238E27FC236}">
                <a16:creationId xmlns:a16="http://schemas.microsoft.com/office/drawing/2014/main" id="{F59372DC-CBBF-1652-AD6E-ECD4B17DE8C3}"/>
              </a:ext>
            </a:extLst>
          </p:cNvPr>
          <p:cNvSpPr/>
          <p:nvPr/>
        </p:nvSpPr>
        <p:spPr>
          <a:xfrm>
            <a:off x="3296868" y="1655276"/>
            <a:ext cx="5655223" cy="650787"/>
          </a:xfrm>
          <a:prstGeom prst="roundRect">
            <a:avLst>
              <a:gd name="adj" fmla="val 169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000">
              <a:solidFill>
                <a:schemeClr val="bg1"/>
              </a:solidFill>
              <a:latin typeface="Abadi" panose="020B0604020104020204" pitchFamily="34" charset="0"/>
              <a:ea typeface="Urbanist"/>
              <a:cs typeface="Aharoni" panose="02010803020104030203" pitchFamily="2" charset="-79"/>
              <a:sym typeface="Urbanist"/>
            </a:endParaRPr>
          </a:p>
        </p:txBody>
      </p:sp>
      <p:sp>
        <p:nvSpPr>
          <p:cNvPr id="8" name="Google Shape;527;p55">
            <a:extLst>
              <a:ext uri="{FF2B5EF4-FFF2-40B4-BE49-F238E27FC236}">
                <a16:creationId xmlns:a16="http://schemas.microsoft.com/office/drawing/2014/main" id="{ED69ABF4-66B6-DC3C-EDD0-44A3F837EBEA}"/>
              </a:ext>
            </a:extLst>
          </p:cNvPr>
          <p:cNvSpPr/>
          <p:nvPr/>
        </p:nvSpPr>
        <p:spPr>
          <a:xfrm>
            <a:off x="3308157" y="2357815"/>
            <a:ext cx="5643934" cy="625027"/>
          </a:xfrm>
          <a:prstGeom prst="roundRect">
            <a:avLst>
              <a:gd name="adj" fmla="val 169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000">
              <a:solidFill>
                <a:schemeClr val="bg1"/>
              </a:solidFill>
              <a:latin typeface="Abadi" panose="020B0604020104020204" pitchFamily="34" charset="0"/>
              <a:ea typeface="Urbanist"/>
              <a:cs typeface="Aharoni" panose="02010803020104030203" pitchFamily="2" charset="-79"/>
              <a:sym typeface="Urbanist"/>
            </a:endParaRPr>
          </a:p>
        </p:txBody>
      </p:sp>
      <p:sp>
        <p:nvSpPr>
          <p:cNvPr id="9" name="Google Shape;528;p55">
            <a:extLst>
              <a:ext uri="{FF2B5EF4-FFF2-40B4-BE49-F238E27FC236}">
                <a16:creationId xmlns:a16="http://schemas.microsoft.com/office/drawing/2014/main" id="{857A71E9-E31C-C298-ADBE-EC6F005B59CB}"/>
              </a:ext>
            </a:extLst>
          </p:cNvPr>
          <p:cNvSpPr/>
          <p:nvPr/>
        </p:nvSpPr>
        <p:spPr>
          <a:xfrm>
            <a:off x="3308157" y="3044184"/>
            <a:ext cx="5643934" cy="633447"/>
          </a:xfrm>
          <a:prstGeom prst="roundRect">
            <a:avLst>
              <a:gd name="adj" fmla="val 169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000">
              <a:solidFill>
                <a:schemeClr val="bg1"/>
              </a:solidFill>
              <a:latin typeface="Abadi" panose="020B0604020104020204" pitchFamily="34" charset="0"/>
              <a:ea typeface="Urbanist"/>
              <a:cs typeface="Aharoni" panose="02010803020104030203" pitchFamily="2" charset="-79"/>
              <a:sym typeface="Urbanist"/>
            </a:endParaRPr>
          </a:p>
        </p:txBody>
      </p:sp>
      <p:sp>
        <p:nvSpPr>
          <p:cNvPr id="10" name="Google Shape;529;p55">
            <a:extLst>
              <a:ext uri="{FF2B5EF4-FFF2-40B4-BE49-F238E27FC236}">
                <a16:creationId xmlns:a16="http://schemas.microsoft.com/office/drawing/2014/main" id="{89C4C524-D41F-356C-CD3D-16E075352818}"/>
              </a:ext>
            </a:extLst>
          </p:cNvPr>
          <p:cNvSpPr/>
          <p:nvPr/>
        </p:nvSpPr>
        <p:spPr>
          <a:xfrm>
            <a:off x="3296868" y="3745949"/>
            <a:ext cx="5643934" cy="650787"/>
          </a:xfrm>
          <a:prstGeom prst="roundRect">
            <a:avLst>
              <a:gd name="adj" fmla="val 169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000">
              <a:solidFill>
                <a:schemeClr val="bg1"/>
              </a:solidFill>
              <a:latin typeface="Abadi" panose="020B0604020104020204" pitchFamily="34" charset="0"/>
              <a:ea typeface="Urbanist"/>
              <a:cs typeface="Aharoni" panose="02010803020104030203" pitchFamily="2" charset="-79"/>
              <a:sym typeface="Urbanist"/>
            </a:endParaRPr>
          </a:p>
        </p:txBody>
      </p:sp>
      <p:sp>
        <p:nvSpPr>
          <p:cNvPr id="11" name="Google Shape;530;p55">
            <a:extLst>
              <a:ext uri="{FF2B5EF4-FFF2-40B4-BE49-F238E27FC236}">
                <a16:creationId xmlns:a16="http://schemas.microsoft.com/office/drawing/2014/main" id="{D17713CE-2746-9A35-B168-F4D93C244172}"/>
              </a:ext>
            </a:extLst>
          </p:cNvPr>
          <p:cNvSpPr/>
          <p:nvPr/>
        </p:nvSpPr>
        <p:spPr>
          <a:xfrm>
            <a:off x="3296868" y="4474810"/>
            <a:ext cx="5643934" cy="642707"/>
          </a:xfrm>
          <a:prstGeom prst="roundRect">
            <a:avLst>
              <a:gd name="adj" fmla="val 169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000">
              <a:solidFill>
                <a:schemeClr val="bg1"/>
              </a:solidFill>
              <a:latin typeface="Abadi" panose="020B0604020104020204" pitchFamily="34" charset="0"/>
              <a:ea typeface="Urbanist"/>
              <a:cs typeface="Aharoni" panose="02010803020104030203" pitchFamily="2" charset="-79"/>
              <a:sym typeface="Urbanist"/>
            </a:endParaRPr>
          </a:p>
        </p:txBody>
      </p:sp>
      <p:grpSp>
        <p:nvGrpSpPr>
          <p:cNvPr id="13" name="Google Shape;532;p55">
            <a:extLst>
              <a:ext uri="{FF2B5EF4-FFF2-40B4-BE49-F238E27FC236}">
                <a16:creationId xmlns:a16="http://schemas.microsoft.com/office/drawing/2014/main" id="{87E59753-432F-2E90-9199-E3DC44346720}"/>
              </a:ext>
            </a:extLst>
          </p:cNvPr>
          <p:cNvGrpSpPr/>
          <p:nvPr/>
        </p:nvGrpSpPr>
        <p:grpSpPr>
          <a:xfrm rot="-5400000">
            <a:off x="8479618" y="1811941"/>
            <a:ext cx="272872" cy="272872"/>
            <a:chOff x="259788" y="1923155"/>
            <a:chExt cx="409800" cy="409800"/>
          </a:xfrm>
        </p:grpSpPr>
        <p:sp>
          <p:nvSpPr>
            <p:cNvPr id="14" name="Google Shape;533;p55">
              <a:extLst>
                <a:ext uri="{FF2B5EF4-FFF2-40B4-BE49-F238E27FC236}">
                  <a16:creationId xmlns:a16="http://schemas.microsoft.com/office/drawing/2014/main" id="{1D3DAAF8-0F52-8CF5-6143-6AF5BE4EB283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Abadi" panose="020B0604020104020204" pitchFamily="34" charset="0"/>
                <a:ea typeface="Urbanist"/>
                <a:cs typeface="Aharoni" panose="02010803020104030203" pitchFamily="2" charset="-79"/>
                <a:sym typeface="Urbanist"/>
              </a:endParaRPr>
            </a:p>
          </p:txBody>
        </p:sp>
        <p:grpSp>
          <p:nvGrpSpPr>
            <p:cNvPr id="15" name="Google Shape;534;p55">
              <a:extLst>
                <a:ext uri="{FF2B5EF4-FFF2-40B4-BE49-F238E27FC236}">
                  <a16:creationId xmlns:a16="http://schemas.microsoft.com/office/drawing/2014/main" id="{AEF10C37-A671-445D-2D23-D126056262F3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16" name="Google Shape;535;p55">
                <a:extLst>
                  <a:ext uri="{FF2B5EF4-FFF2-40B4-BE49-F238E27FC236}">
                    <a16:creationId xmlns:a16="http://schemas.microsoft.com/office/drawing/2014/main" id="{533DF841-316C-B023-B7D3-086CC9DB25F2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536;p55">
                <a:extLst>
                  <a:ext uri="{FF2B5EF4-FFF2-40B4-BE49-F238E27FC236}">
                    <a16:creationId xmlns:a16="http://schemas.microsoft.com/office/drawing/2014/main" id="{1B0AE178-9387-CBD2-B71D-E1916A526953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" name="Google Shape;537;p55">
            <a:extLst>
              <a:ext uri="{FF2B5EF4-FFF2-40B4-BE49-F238E27FC236}">
                <a16:creationId xmlns:a16="http://schemas.microsoft.com/office/drawing/2014/main" id="{C7632CA1-61C7-1940-C336-84B7D152AF04}"/>
              </a:ext>
            </a:extLst>
          </p:cNvPr>
          <p:cNvGrpSpPr/>
          <p:nvPr/>
        </p:nvGrpSpPr>
        <p:grpSpPr>
          <a:xfrm rot="-5400000">
            <a:off x="8479858" y="2523406"/>
            <a:ext cx="272872" cy="272872"/>
            <a:chOff x="259788" y="1923155"/>
            <a:chExt cx="409800" cy="409800"/>
          </a:xfrm>
        </p:grpSpPr>
        <p:sp>
          <p:nvSpPr>
            <p:cNvPr id="19" name="Google Shape;538;p55">
              <a:extLst>
                <a:ext uri="{FF2B5EF4-FFF2-40B4-BE49-F238E27FC236}">
                  <a16:creationId xmlns:a16="http://schemas.microsoft.com/office/drawing/2014/main" id="{CB373AC0-0648-93D6-7D6F-112874D3160D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Abadi" panose="020B0604020104020204" pitchFamily="34" charset="0"/>
                <a:ea typeface="Urbanist"/>
                <a:cs typeface="Aharoni" panose="02010803020104030203" pitchFamily="2" charset="-79"/>
                <a:sym typeface="Urbanist"/>
              </a:endParaRPr>
            </a:p>
          </p:txBody>
        </p:sp>
        <p:grpSp>
          <p:nvGrpSpPr>
            <p:cNvPr id="20" name="Google Shape;539;p55">
              <a:extLst>
                <a:ext uri="{FF2B5EF4-FFF2-40B4-BE49-F238E27FC236}">
                  <a16:creationId xmlns:a16="http://schemas.microsoft.com/office/drawing/2014/main" id="{C6059C84-6254-6D41-5332-397ECDFD7121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21" name="Google Shape;540;p55">
                <a:extLst>
                  <a:ext uri="{FF2B5EF4-FFF2-40B4-BE49-F238E27FC236}">
                    <a16:creationId xmlns:a16="http://schemas.microsoft.com/office/drawing/2014/main" id="{A9D7B36A-C444-7909-12BB-058310D20F91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541;p55">
                <a:extLst>
                  <a:ext uri="{FF2B5EF4-FFF2-40B4-BE49-F238E27FC236}">
                    <a16:creationId xmlns:a16="http://schemas.microsoft.com/office/drawing/2014/main" id="{22B085F0-DE4A-1795-05CF-6784E6BD35A0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3" name="Google Shape;542;p55">
            <a:extLst>
              <a:ext uri="{FF2B5EF4-FFF2-40B4-BE49-F238E27FC236}">
                <a16:creationId xmlns:a16="http://schemas.microsoft.com/office/drawing/2014/main" id="{8C5C3D6B-C294-8F15-16B9-94E3FAB7423F}"/>
              </a:ext>
            </a:extLst>
          </p:cNvPr>
          <p:cNvGrpSpPr/>
          <p:nvPr/>
        </p:nvGrpSpPr>
        <p:grpSpPr>
          <a:xfrm rot="-5400000">
            <a:off x="8456825" y="3168459"/>
            <a:ext cx="272872" cy="272872"/>
            <a:chOff x="259788" y="1923155"/>
            <a:chExt cx="409800" cy="409800"/>
          </a:xfrm>
        </p:grpSpPr>
        <p:sp>
          <p:nvSpPr>
            <p:cNvPr id="24" name="Google Shape;543;p55">
              <a:extLst>
                <a:ext uri="{FF2B5EF4-FFF2-40B4-BE49-F238E27FC236}">
                  <a16:creationId xmlns:a16="http://schemas.microsoft.com/office/drawing/2014/main" id="{894B0D7E-4AA1-2AC8-D2E1-1E6EDC66AA6F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Abadi" panose="020B0604020104020204" pitchFamily="34" charset="0"/>
                <a:ea typeface="Urbanist"/>
                <a:cs typeface="Aharoni" panose="02010803020104030203" pitchFamily="2" charset="-79"/>
                <a:sym typeface="Urbanist"/>
              </a:endParaRPr>
            </a:p>
          </p:txBody>
        </p:sp>
        <p:grpSp>
          <p:nvGrpSpPr>
            <p:cNvPr id="25" name="Google Shape;544;p55">
              <a:extLst>
                <a:ext uri="{FF2B5EF4-FFF2-40B4-BE49-F238E27FC236}">
                  <a16:creationId xmlns:a16="http://schemas.microsoft.com/office/drawing/2014/main" id="{F5274EAE-3C61-5311-6676-8B1DC85154B5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26" name="Google Shape;545;p55">
                <a:extLst>
                  <a:ext uri="{FF2B5EF4-FFF2-40B4-BE49-F238E27FC236}">
                    <a16:creationId xmlns:a16="http://schemas.microsoft.com/office/drawing/2014/main" id="{B5BE3537-F3A6-49E3-37C8-78719CB423C0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546;p55">
                <a:extLst>
                  <a:ext uri="{FF2B5EF4-FFF2-40B4-BE49-F238E27FC236}">
                    <a16:creationId xmlns:a16="http://schemas.microsoft.com/office/drawing/2014/main" id="{7488D13E-EEA6-4C74-2476-73C0E3E7E46C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8" name="Google Shape;547;p55">
            <a:extLst>
              <a:ext uri="{FF2B5EF4-FFF2-40B4-BE49-F238E27FC236}">
                <a16:creationId xmlns:a16="http://schemas.microsoft.com/office/drawing/2014/main" id="{AB75D7A9-99D5-161B-E00C-BEF88CA40A3A}"/>
              </a:ext>
            </a:extLst>
          </p:cNvPr>
          <p:cNvGrpSpPr/>
          <p:nvPr/>
        </p:nvGrpSpPr>
        <p:grpSpPr>
          <a:xfrm rot="-5400000">
            <a:off x="8445321" y="3915932"/>
            <a:ext cx="272872" cy="272872"/>
            <a:chOff x="259788" y="1923155"/>
            <a:chExt cx="409800" cy="409800"/>
          </a:xfrm>
        </p:grpSpPr>
        <p:sp>
          <p:nvSpPr>
            <p:cNvPr id="29" name="Google Shape;548;p55">
              <a:extLst>
                <a:ext uri="{FF2B5EF4-FFF2-40B4-BE49-F238E27FC236}">
                  <a16:creationId xmlns:a16="http://schemas.microsoft.com/office/drawing/2014/main" id="{F16C457F-93F2-FF6F-97C1-A2EE3987F785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Abadi" panose="020B0604020104020204" pitchFamily="34" charset="0"/>
                <a:ea typeface="Urbanist"/>
                <a:cs typeface="Aharoni" panose="02010803020104030203" pitchFamily="2" charset="-79"/>
                <a:sym typeface="Urbanist"/>
              </a:endParaRPr>
            </a:p>
          </p:txBody>
        </p:sp>
        <p:grpSp>
          <p:nvGrpSpPr>
            <p:cNvPr id="30" name="Google Shape;549;p55">
              <a:extLst>
                <a:ext uri="{FF2B5EF4-FFF2-40B4-BE49-F238E27FC236}">
                  <a16:creationId xmlns:a16="http://schemas.microsoft.com/office/drawing/2014/main" id="{E2197372-CD7C-A442-1B89-A46B9EDBF718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31" name="Google Shape;550;p55">
                <a:extLst>
                  <a:ext uri="{FF2B5EF4-FFF2-40B4-BE49-F238E27FC236}">
                    <a16:creationId xmlns:a16="http://schemas.microsoft.com/office/drawing/2014/main" id="{62D2BAD4-5B24-D056-D936-C893DA06B9DE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551;p55">
                <a:extLst>
                  <a:ext uri="{FF2B5EF4-FFF2-40B4-BE49-F238E27FC236}">
                    <a16:creationId xmlns:a16="http://schemas.microsoft.com/office/drawing/2014/main" id="{5F03FFAB-D670-285D-C77D-25E4F2D2F005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3" name="Google Shape;552;p55">
            <a:extLst>
              <a:ext uri="{FF2B5EF4-FFF2-40B4-BE49-F238E27FC236}">
                <a16:creationId xmlns:a16="http://schemas.microsoft.com/office/drawing/2014/main" id="{B764D556-1730-7EC6-553D-D918F2B890D1}"/>
              </a:ext>
            </a:extLst>
          </p:cNvPr>
          <p:cNvGrpSpPr/>
          <p:nvPr/>
        </p:nvGrpSpPr>
        <p:grpSpPr>
          <a:xfrm rot="-5400000">
            <a:off x="8445340" y="4667140"/>
            <a:ext cx="272872" cy="272872"/>
            <a:chOff x="259788" y="1923155"/>
            <a:chExt cx="409800" cy="409800"/>
          </a:xfrm>
        </p:grpSpPr>
        <p:sp>
          <p:nvSpPr>
            <p:cNvPr id="34" name="Google Shape;553;p55">
              <a:extLst>
                <a:ext uri="{FF2B5EF4-FFF2-40B4-BE49-F238E27FC236}">
                  <a16:creationId xmlns:a16="http://schemas.microsoft.com/office/drawing/2014/main" id="{F1E31334-CF20-04DB-0305-8F7A32963CCD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Abadi" panose="020B0604020104020204" pitchFamily="34" charset="0"/>
                <a:ea typeface="Urbanist"/>
                <a:cs typeface="Aharoni" panose="02010803020104030203" pitchFamily="2" charset="-79"/>
                <a:sym typeface="Urbanist"/>
              </a:endParaRPr>
            </a:p>
          </p:txBody>
        </p:sp>
        <p:grpSp>
          <p:nvGrpSpPr>
            <p:cNvPr id="35" name="Google Shape;554;p55">
              <a:extLst>
                <a:ext uri="{FF2B5EF4-FFF2-40B4-BE49-F238E27FC236}">
                  <a16:creationId xmlns:a16="http://schemas.microsoft.com/office/drawing/2014/main" id="{DC9020C1-B7EC-426B-036A-3B9EBCDE7B83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36" name="Google Shape;555;p55">
                <a:extLst>
                  <a:ext uri="{FF2B5EF4-FFF2-40B4-BE49-F238E27FC236}">
                    <a16:creationId xmlns:a16="http://schemas.microsoft.com/office/drawing/2014/main" id="{ABC1098E-07DA-A977-3EBD-952FDA35695E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556;p55">
                <a:extLst>
                  <a:ext uri="{FF2B5EF4-FFF2-40B4-BE49-F238E27FC236}">
                    <a16:creationId xmlns:a16="http://schemas.microsoft.com/office/drawing/2014/main" id="{609DBCB7-5C59-5018-DA2E-FC9A6FAD3CA6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3" name="Google Shape;563;p55">
            <a:extLst>
              <a:ext uri="{FF2B5EF4-FFF2-40B4-BE49-F238E27FC236}">
                <a16:creationId xmlns:a16="http://schemas.microsoft.com/office/drawing/2014/main" id="{11DADBA7-63DD-175F-B887-2691C8AE1F22}"/>
              </a:ext>
            </a:extLst>
          </p:cNvPr>
          <p:cNvSpPr txBox="1">
            <a:spLocks/>
          </p:cNvSpPr>
          <p:nvPr/>
        </p:nvSpPr>
        <p:spPr>
          <a:xfrm>
            <a:off x="3452815" y="1790337"/>
            <a:ext cx="4300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44" name="Google Shape;564;p55">
            <a:extLst>
              <a:ext uri="{FF2B5EF4-FFF2-40B4-BE49-F238E27FC236}">
                <a16:creationId xmlns:a16="http://schemas.microsoft.com/office/drawing/2014/main" id="{0A505C18-F89F-2605-D4CD-E2599A86CAA1}"/>
              </a:ext>
            </a:extLst>
          </p:cNvPr>
          <p:cNvSpPr txBox="1">
            <a:spLocks/>
          </p:cNvSpPr>
          <p:nvPr/>
        </p:nvSpPr>
        <p:spPr>
          <a:xfrm>
            <a:off x="3464104" y="2487067"/>
            <a:ext cx="4300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 algn="l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45" name="Google Shape;565;p55">
            <a:extLst>
              <a:ext uri="{FF2B5EF4-FFF2-40B4-BE49-F238E27FC236}">
                <a16:creationId xmlns:a16="http://schemas.microsoft.com/office/drawing/2014/main" id="{27E88CAB-42B0-5472-5BFC-5FC9652019E8}"/>
              </a:ext>
            </a:extLst>
          </p:cNvPr>
          <p:cNvSpPr txBox="1">
            <a:spLocks/>
          </p:cNvSpPr>
          <p:nvPr/>
        </p:nvSpPr>
        <p:spPr>
          <a:xfrm>
            <a:off x="3452815" y="3132284"/>
            <a:ext cx="4300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46" name="Google Shape;566;p55">
            <a:extLst>
              <a:ext uri="{FF2B5EF4-FFF2-40B4-BE49-F238E27FC236}">
                <a16:creationId xmlns:a16="http://schemas.microsoft.com/office/drawing/2014/main" id="{8E7AFC46-FC69-10BA-9D7C-134AEDACAED6}"/>
              </a:ext>
            </a:extLst>
          </p:cNvPr>
          <p:cNvSpPr txBox="1">
            <a:spLocks/>
          </p:cNvSpPr>
          <p:nvPr/>
        </p:nvSpPr>
        <p:spPr>
          <a:xfrm>
            <a:off x="3362748" y="3860167"/>
            <a:ext cx="4300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 rtl="0">
              <a:buClrTx/>
              <a:buFontTx/>
            </a:pPr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47" name="Google Shape;567;p55">
            <a:extLst>
              <a:ext uri="{FF2B5EF4-FFF2-40B4-BE49-F238E27FC236}">
                <a16:creationId xmlns:a16="http://schemas.microsoft.com/office/drawing/2014/main" id="{5BAD27D7-932F-2AF4-3D92-72EE34CDA298}"/>
              </a:ext>
            </a:extLst>
          </p:cNvPr>
          <p:cNvSpPr txBox="1">
            <a:spLocks/>
          </p:cNvSpPr>
          <p:nvPr/>
        </p:nvSpPr>
        <p:spPr>
          <a:xfrm>
            <a:off x="3419212" y="4595439"/>
            <a:ext cx="4300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48" name="Google Shape;568;p55">
            <a:extLst>
              <a:ext uri="{FF2B5EF4-FFF2-40B4-BE49-F238E27FC236}">
                <a16:creationId xmlns:a16="http://schemas.microsoft.com/office/drawing/2014/main" id="{5B170FEC-A33D-390A-297C-97088A6F03F2}"/>
              </a:ext>
            </a:extLst>
          </p:cNvPr>
          <p:cNvSpPr txBox="1">
            <a:spLocks/>
          </p:cNvSpPr>
          <p:nvPr/>
        </p:nvSpPr>
        <p:spPr>
          <a:xfrm>
            <a:off x="3464368" y="6378384"/>
            <a:ext cx="4300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49" name="Google Shape;569;p55">
            <a:extLst>
              <a:ext uri="{FF2B5EF4-FFF2-40B4-BE49-F238E27FC236}">
                <a16:creationId xmlns:a16="http://schemas.microsoft.com/office/drawing/2014/main" id="{B8E3DB4A-1752-B808-C13F-E19730729CF5}"/>
              </a:ext>
            </a:extLst>
          </p:cNvPr>
          <p:cNvSpPr txBox="1">
            <a:spLocks/>
          </p:cNvSpPr>
          <p:nvPr/>
        </p:nvSpPr>
        <p:spPr>
          <a:xfrm>
            <a:off x="3917600" y="1790337"/>
            <a:ext cx="43568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 rtl="0">
              <a:buClrTx/>
              <a:buFontTx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Background</a:t>
            </a:r>
          </a:p>
        </p:txBody>
      </p:sp>
      <p:sp>
        <p:nvSpPr>
          <p:cNvPr id="50" name="Google Shape;570;p55">
            <a:extLst>
              <a:ext uri="{FF2B5EF4-FFF2-40B4-BE49-F238E27FC236}">
                <a16:creationId xmlns:a16="http://schemas.microsoft.com/office/drawing/2014/main" id="{7B22C1B0-6A92-63AB-A65E-C030FBE78A34}"/>
              </a:ext>
            </a:extLst>
          </p:cNvPr>
          <p:cNvSpPr txBox="1">
            <a:spLocks/>
          </p:cNvSpPr>
          <p:nvPr/>
        </p:nvSpPr>
        <p:spPr>
          <a:xfrm>
            <a:off x="3894104" y="2487067"/>
            <a:ext cx="43568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Problem Statement</a:t>
            </a:r>
          </a:p>
        </p:txBody>
      </p:sp>
      <p:sp>
        <p:nvSpPr>
          <p:cNvPr id="51" name="Google Shape;571;p55">
            <a:extLst>
              <a:ext uri="{FF2B5EF4-FFF2-40B4-BE49-F238E27FC236}">
                <a16:creationId xmlns:a16="http://schemas.microsoft.com/office/drawing/2014/main" id="{870E77DB-11C1-2FDE-610F-91E79A0332B9}"/>
              </a:ext>
            </a:extLst>
          </p:cNvPr>
          <p:cNvSpPr txBox="1">
            <a:spLocks/>
          </p:cNvSpPr>
          <p:nvPr/>
        </p:nvSpPr>
        <p:spPr>
          <a:xfrm>
            <a:off x="3882815" y="3143806"/>
            <a:ext cx="43568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Proposed Solution</a:t>
            </a:r>
          </a:p>
        </p:txBody>
      </p:sp>
      <p:sp>
        <p:nvSpPr>
          <p:cNvPr id="52" name="Google Shape;572;p55">
            <a:extLst>
              <a:ext uri="{FF2B5EF4-FFF2-40B4-BE49-F238E27FC236}">
                <a16:creationId xmlns:a16="http://schemas.microsoft.com/office/drawing/2014/main" id="{B3A55C8E-F11D-CC14-BD9A-F53BB2F3A4EF}"/>
              </a:ext>
            </a:extLst>
          </p:cNvPr>
          <p:cNvSpPr txBox="1">
            <a:spLocks/>
          </p:cNvSpPr>
          <p:nvPr/>
        </p:nvSpPr>
        <p:spPr>
          <a:xfrm>
            <a:off x="3792748" y="3860167"/>
            <a:ext cx="43568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 rtl="0">
              <a:buClr>
                <a:schemeClr val="dk1"/>
              </a:buClr>
              <a:buSzPts val="1100"/>
              <a:buFontTx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Decision Tree &amp; Bayes</a:t>
            </a:r>
          </a:p>
        </p:txBody>
      </p:sp>
      <p:sp>
        <p:nvSpPr>
          <p:cNvPr id="53" name="Google Shape;573;p55">
            <a:extLst>
              <a:ext uri="{FF2B5EF4-FFF2-40B4-BE49-F238E27FC236}">
                <a16:creationId xmlns:a16="http://schemas.microsoft.com/office/drawing/2014/main" id="{679B74F8-879B-EB87-CF82-64D0CFECCB9B}"/>
              </a:ext>
            </a:extLst>
          </p:cNvPr>
          <p:cNvSpPr txBox="1">
            <a:spLocks/>
          </p:cNvSpPr>
          <p:nvPr/>
        </p:nvSpPr>
        <p:spPr>
          <a:xfrm>
            <a:off x="3849212" y="4595439"/>
            <a:ext cx="43568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Analysis &amp; Recommendations</a:t>
            </a:r>
          </a:p>
        </p:txBody>
      </p:sp>
      <p:sp>
        <p:nvSpPr>
          <p:cNvPr id="54" name="Google Shape;574;p55">
            <a:extLst>
              <a:ext uri="{FF2B5EF4-FFF2-40B4-BE49-F238E27FC236}">
                <a16:creationId xmlns:a16="http://schemas.microsoft.com/office/drawing/2014/main" id="{3A4820E5-9464-8C84-8F0B-D156AD0EA23A}"/>
              </a:ext>
            </a:extLst>
          </p:cNvPr>
          <p:cNvSpPr txBox="1">
            <a:spLocks/>
          </p:cNvSpPr>
          <p:nvPr/>
        </p:nvSpPr>
        <p:spPr>
          <a:xfrm>
            <a:off x="3894368" y="6378384"/>
            <a:ext cx="43568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000" b="0" i="0" u="none" strike="noStrike" cap="non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Simulation</a:t>
            </a:r>
          </a:p>
        </p:txBody>
      </p:sp>
      <p:sp>
        <p:nvSpPr>
          <p:cNvPr id="12" name="Google Shape;530;p55">
            <a:extLst>
              <a:ext uri="{FF2B5EF4-FFF2-40B4-BE49-F238E27FC236}">
                <a16:creationId xmlns:a16="http://schemas.microsoft.com/office/drawing/2014/main" id="{EC0AF8A2-E427-DF39-EA9A-80220428C3C8}"/>
              </a:ext>
            </a:extLst>
          </p:cNvPr>
          <p:cNvSpPr/>
          <p:nvPr/>
        </p:nvSpPr>
        <p:spPr>
          <a:xfrm>
            <a:off x="3274393" y="5202724"/>
            <a:ext cx="5643934" cy="633658"/>
          </a:xfrm>
          <a:prstGeom prst="roundRect">
            <a:avLst>
              <a:gd name="adj" fmla="val 169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000">
              <a:solidFill>
                <a:schemeClr val="bg1"/>
              </a:solidFill>
              <a:latin typeface="Abadi" panose="020B0604020104020204" pitchFamily="34" charset="0"/>
              <a:ea typeface="Urbanist"/>
              <a:cs typeface="Aharoni" panose="02010803020104030203" pitchFamily="2" charset="-79"/>
              <a:sym typeface="Urbanist"/>
            </a:endParaRPr>
          </a:p>
        </p:txBody>
      </p:sp>
      <p:grpSp>
        <p:nvGrpSpPr>
          <p:cNvPr id="38" name="Google Shape;552;p55">
            <a:extLst>
              <a:ext uri="{FF2B5EF4-FFF2-40B4-BE49-F238E27FC236}">
                <a16:creationId xmlns:a16="http://schemas.microsoft.com/office/drawing/2014/main" id="{A8A15880-6CBC-7FC9-BF20-2C604878C7C8}"/>
              </a:ext>
            </a:extLst>
          </p:cNvPr>
          <p:cNvGrpSpPr/>
          <p:nvPr/>
        </p:nvGrpSpPr>
        <p:grpSpPr>
          <a:xfrm rot="-5400000">
            <a:off x="8422865" y="5395054"/>
            <a:ext cx="272872" cy="272872"/>
            <a:chOff x="259788" y="1923155"/>
            <a:chExt cx="409800" cy="409800"/>
          </a:xfrm>
        </p:grpSpPr>
        <p:sp>
          <p:nvSpPr>
            <p:cNvPr id="39" name="Google Shape;553;p55">
              <a:extLst>
                <a:ext uri="{FF2B5EF4-FFF2-40B4-BE49-F238E27FC236}">
                  <a16:creationId xmlns:a16="http://schemas.microsoft.com/office/drawing/2014/main" id="{807F62F9-62CE-8BDD-031D-F0FBECADCDC4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Abadi" panose="020B0604020104020204" pitchFamily="34" charset="0"/>
                <a:ea typeface="Urbanist"/>
                <a:cs typeface="Aharoni" panose="02010803020104030203" pitchFamily="2" charset="-79"/>
                <a:sym typeface="Urbanist"/>
              </a:endParaRPr>
            </a:p>
          </p:txBody>
        </p:sp>
        <p:grpSp>
          <p:nvGrpSpPr>
            <p:cNvPr id="40" name="Google Shape;554;p55">
              <a:extLst>
                <a:ext uri="{FF2B5EF4-FFF2-40B4-BE49-F238E27FC236}">
                  <a16:creationId xmlns:a16="http://schemas.microsoft.com/office/drawing/2014/main" id="{9D667F99-E29C-27F8-DDA1-EA06F882A917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1" name="Google Shape;555;p55">
                <a:extLst>
                  <a:ext uri="{FF2B5EF4-FFF2-40B4-BE49-F238E27FC236}">
                    <a16:creationId xmlns:a16="http://schemas.microsoft.com/office/drawing/2014/main" id="{BFC9877E-FC07-6E1F-647A-E4C087FC4638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" name="Google Shape;556;p55">
                <a:extLst>
                  <a:ext uri="{FF2B5EF4-FFF2-40B4-BE49-F238E27FC236}">
                    <a16:creationId xmlns:a16="http://schemas.microsoft.com/office/drawing/2014/main" id="{F6C7D401-C0E4-71CA-2298-E87CE4D3D181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5" name="Google Shape;567;p55">
            <a:extLst>
              <a:ext uri="{FF2B5EF4-FFF2-40B4-BE49-F238E27FC236}">
                <a16:creationId xmlns:a16="http://schemas.microsoft.com/office/drawing/2014/main" id="{D95943A9-E0C6-92F1-6B58-0BF449893128}"/>
              </a:ext>
            </a:extLst>
          </p:cNvPr>
          <p:cNvSpPr txBox="1">
            <a:spLocks/>
          </p:cNvSpPr>
          <p:nvPr/>
        </p:nvSpPr>
        <p:spPr>
          <a:xfrm>
            <a:off x="3396737" y="5323353"/>
            <a:ext cx="4300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56" name="Google Shape;573;p55">
            <a:extLst>
              <a:ext uri="{FF2B5EF4-FFF2-40B4-BE49-F238E27FC236}">
                <a16:creationId xmlns:a16="http://schemas.microsoft.com/office/drawing/2014/main" id="{8E2DB0D3-5730-59E0-0D3C-6BC335EECC92}"/>
              </a:ext>
            </a:extLst>
          </p:cNvPr>
          <p:cNvSpPr txBox="1">
            <a:spLocks/>
          </p:cNvSpPr>
          <p:nvPr/>
        </p:nvSpPr>
        <p:spPr>
          <a:xfrm>
            <a:off x="3826737" y="5323353"/>
            <a:ext cx="43568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Simulations</a:t>
            </a:r>
          </a:p>
        </p:txBody>
      </p:sp>
      <p:sp>
        <p:nvSpPr>
          <p:cNvPr id="57" name="Google Shape;530;p55">
            <a:extLst>
              <a:ext uri="{FF2B5EF4-FFF2-40B4-BE49-F238E27FC236}">
                <a16:creationId xmlns:a16="http://schemas.microsoft.com/office/drawing/2014/main" id="{C554D806-6570-414D-9AA5-408A11FB6A6C}"/>
              </a:ext>
            </a:extLst>
          </p:cNvPr>
          <p:cNvSpPr/>
          <p:nvPr/>
        </p:nvSpPr>
        <p:spPr>
          <a:xfrm>
            <a:off x="3274393" y="5931198"/>
            <a:ext cx="5643934" cy="678412"/>
          </a:xfrm>
          <a:prstGeom prst="roundRect">
            <a:avLst>
              <a:gd name="adj" fmla="val 169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000">
              <a:solidFill>
                <a:schemeClr val="bg1"/>
              </a:solidFill>
              <a:latin typeface="Abadi" panose="020B0604020104020204" pitchFamily="34" charset="0"/>
              <a:ea typeface="Urbanist"/>
              <a:cs typeface="Aharoni" panose="02010803020104030203" pitchFamily="2" charset="-79"/>
              <a:sym typeface="Urbanist"/>
            </a:endParaRPr>
          </a:p>
        </p:txBody>
      </p:sp>
      <p:grpSp>
        <p:nvGrpSpPr>
          <p:cNvPr id="58" name="Google Shape;552;p55">
            <a:extLst>
              <a:ext uri="{FF2B5EF4-FFF2-40B4-BE49-F238E27FC236}">
                <a16:creationId xmlns:a16="http://schemas.microsoft.com/office/drawing/2014/main" id="{06D77560-3F67-DF49-AF88-CAFDBB357C64}"/>
              </a:ext>
            </a:extLst>
          </p:cNvPr>
          <p:cNvGrpSpPr/>
          <p:nvPr/>
        </p:nvGrpSpPr>
        <p:grpSpPr>
          <a:xfrm rot="-5400000">
            <a:off x="8422865" y="6123528"/>
            <a:ext cx="272872" cy="272872"/>
            <a:chOff x="259788" y="1923155"/>
            <a:chExt cx="409800" cy="409800"/>
          </a:xfrm>
        </p:grpSpPr>
        <p:sp>
          <p:nvSpPr>
            <p:cNvPr id="59" name="Google Shape;553;p55">
              <a:extLst>
                <a:ext uri="{FF2B5EF4-FFF2-40B4-BE49-F238E27FC236}">
                  <a16:creationId xmlns:a16="http://schemas.microsoft.com/office/drawing/2014/main" id="{8FFA7EED-D782-318A-0067-2BC9F51491BE}"/>
                </a:ext>
              </a:extLst>
            </p:cNvPr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Abadi" panose="020B0604020104020204" pitchFamily="34" charset="0"/>
                <a:ea typeface="Urbanist"/>
                <a:cs typeface="Aharoni" panose="02010803020104030203" pitchFamily="2" charset="-79"/>
                <a:sym typeface="Urbanist"/>
              </a:endParaRPr>
            </a:p>
          </p:txBody>
        </p:sp>
        <p:grpSp>
          <p:nvGrpSpPr>
            <p:cNvPr id="60" name="Google Shape;554;p55">
              <a:extLst>
                <a:ext uri="{FF2B5EF4-FFF2-40B4-BE49-F238E27FC236}">
                  <a16:creationId xmlns:a16="http://schemas.microsoft.com/office/drawing/2014/main" id="{080DA089-1314-5E49-C76F-B04DBCFC8300}"/>
                </a:ext>
              </a:extLst>
            </p:cNvPr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1" name="Google Shape;555;p55">
                <a:extLst>
                  <a:ext uri="{FF2B5EF4-FFF2-40B4-BE49-F238E27FC236}">
                    <a16:creationId xmlns:a16="http://schemas.microsoft.com/office/drawing/2014/main" id="{41C5EB17-FF6E-9BBF-F82C-E0F37734BBAE}"/>
                  </a:ext>
                </a:extLst>
              </p:cNvPr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556;p55">
                <a:extLst>
                  <a:ext uri="{FF2B5EF4-FFF2-40B4-BE49-F238E27FC236}">
                    <a16:creationId xmlns:a16="http://schemas.microsoft.com/office/drawing/2014/main" id="{26C04169-F335-EBD6-1DA1-1591421DD746}"/>
                  </a:ext>
                </a:extLst>
              </p:cNvPr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3" name="Google Shape;567;p55">
            <a:extLst>
              <a:ext uri="{FF2B5EF4-FFF2-40B4-BE49-F238E27FC236}">
                <a16:creationId xmlns:a16="http://schemas.microsoft.com/office/drawing/2014/main" id="{8E367694-0252-1848-07C0-7C1F973A09C4}"/>
              </a:ext>
            </a:extLst>
          </p:cNvPr>
          <p:cNvSpPr txBox="1">
            <a:spLocks/>
          </p:cNvSpPr>
          <p:nvPr/>
        </p:nvSpPr>
        <p:spPr>
          <a:xfrm>
            <a:off x="3396737" y="6051827"/>
            <a:ext cx="430000" cy="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/>
            <a:r>
              <a:rPr lang="en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7</a:t>
            </a:r>
          </a:p>
        </p:txBody>
      </p:sp>
      <p:sp>
        <p:nvSpPr>
          <p:cNvPr id="1024" name="Google Shape;573;p55">
            <a:extLst>
              <a:ext uri="{FF2B5EF4-FFF2-40B4-BE49-F238E27FC236}">
                <a16:creationId xmlns:a16="http://schemas.microsoft.com/office/drawing/2014/main" id="{4BA8EA63-1CBD-FEEF-3116-F883ABD89177}"/>
              </a:ext>
            </a:extLst>
          </p:cNvPr>
          <p:cNvSpPr txBox="1">
            <a:spLocks/>
          </p:cNvSpPr>
          <p:nvPr/>
        </p:nvSpPr>
        <p:spPr>
          <a:xfrm>
            <a:off x="3826737" y="6390907"/>
            <a:ext cx="4356800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0" i="0" u="none" strike="noStrike" cap="none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 b="0" i="0" u="none" strike="noStrike" cap="none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-US" sz="2000">
                <a:solidFill>
                  <a:schemeClr val="bg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Analysis &amp; Recommendations</a:t>
            </a:r>
          </a:p>
          <a:p>
            <a:pPr marL="0" indent="0">
              <a:buClr>
                <a:schemeClr val="dk1"/>
              </a:buClr>
              <a:buSzPts val="1100"/>
            </a:pPr>
            <a:endParaRPr lang="en-US" sz="2000">
              <a:solidFill>
                <a:schemeClr val="bg1"/>
              </a:solidFill>
              <a:latin typeface="Abadi" panose="020B0604020104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8329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024EC-D55D-060D-2B59-4BDC1EF9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67AAC597-5C45-BFB9-2778-F52378800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384DF095-2A62-66BE-291B-25EC332A0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93563B4A-BA73-6EB3-C386-BB2777E94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55C500EE-AAAA-3A4C-EB8E-58FA15CC5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5976EE3-ED9A-FB50-56E3-26307919E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About GreenFleet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69562A4-63BE-CC35-56E6-161056A75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11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i)</a:t>
            </a:r>
            <a:b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r>
              <a:rPr lang="en-US" sz="11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ii)</a:t>
            </a: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773692DC-B8B8-B1A6-05C0-EEB7D53615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2C79B5-3E2B-2B68-01F3-F9A22AEDC15A}"/>
              </a:ext>
            </a:extLst>
          </p:cNvPr>
          <p:cNvSpPr txBox="1"/>
          <p:nvPr/>
        </p:nvSpPr>
        <p:spPr>
          <a:xfrm>
            <a:off x="554327" y="2333012"/>
            <a:ext cx="6098344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1000"/>
              </a:spcBef>
            </a:pPr>
            <a:r>
              <a:rPr lang="en-US" sz="1800" b="0" i="0" kern="120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GreenFleet Motors, a prominent player in the electric vehicle (EV) industry, is in the midst of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0" i="0" kern="120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a pivotal growth phase. </a:t>
            </a:r>
          </a:p>
          <a:p>
            <a:pPr marL="0" indent="0">
              <a:spcBef>
                <a:spcPts val="1000"/>
              </a:spcBef>
            </a:pPr>
            <a:r>
              <a:rPr lang="en-US" sz="1800" b="0" i="0" kern="120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The company is preparing to embark on two high-stakes investment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0" i="0" kern="120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decisions that will shape its long-term position in the global EV market.</a:t>
            </a:r>
            <a:endParaRPr lang="en-US" sz="18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 descr="Green Fleet | Eau Claire WI">
            <a:extLst>
              <a:ext uri="{FF2B5EF4-FFF2-40B4-BE49-F238E27FC236}">
                <a16:creationId xmlns:a16="http://schemas.microsoft.com/office/drawing/2014/main" id="{4A3670EA-801B-593E-06DA-AA2D34D4B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2549" y="1709810"/>
            <a:ext cx="2963535" cy="2963535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61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2C7BC-AE0A-6D1E-3865-5E23B631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C875E379-CC41-2082-D8B1-60BBE1F87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E14C392C-5C92-2789-1B2A-0585CFFE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8448BC72-E68D-9ED1-4759-70D1BB9D4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2BCB75CD-9023-4D32-19CA-D471B1107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F74812A-8545-C280-8577-B5B55C84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45A84CE-3A31-EFB4-AF43-4DF89BA73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11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i)</a:t>
            </a:r>
            <a:b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r>
              <a:rPr lang="en-US" sz="11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ii)</a:t>
            </a: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978914-0705-B77E-7D21-F29B8C14C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802169"/>
              </p:ext>
            </p:extLst>
          </p:nvPr>
        </p:nvGraphicFramePr>
        <p:xfrm>
          <a:off x="79022" y="1609442"/>
          <a:ext cx="12022667" cy="515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7053">
                  <a:extLst>
                    <a:ext uri="{9D8B030D-6E8A-4147-A177-3AD203B41FA5}">
                      <a16:colId xmlns:a16="http://schemas.microsoft.com/office/drawing/2014/main" val="926385560"/>
                    </a:ext>
                  </a:extLst>
                </a:gridCol>
                <a:gridCol w="6005614">
                  <a:extLst>
                    <a:ext uri="{9D8B030D-6E8A-4147-A177-3AD203B41FA5}">
                      <a16:colId xmlns:a16="http://schemas.microsoft.com/office/drawing/2014/main" val="1469743365"/>
                    </a:ext>
                  </a:extLst>
                </a:gridCol>
              </a:tblGrid>
              <a:tr h="634206">
                <a:tc>
                  <a:txBody>
                    <a:bodyPr/>
                    <a:lstStyle/>
                    <a:p>
                      <a:pPr algn="just"/>
                      <a:r>
                        <a:rPr lang="en-US" sz="1800" b="0">
                          <a:effectLst/>
                        </a:rPr>
                        <a:t>Lithium Resource Investment</a:t>
                      </a:r>
                    </a:p>
                  </a:txBody>
                  <a:tcPr marL="109644" marR="109644" marT="54822" marB="548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>
                          <a:effectLst/>
                        </a:rPr>
                        <a:t>Demand Prediction for EV manufacturing</a:t>
                      </a:r>
                    </a:p>
                    <a:p>
                      <a:pPr algn="just"/>
                      <a:endParaRPr lang="en-US" sz="1800" b="0">
                        <a:effectLst/>
                      </a:endParaRPr>
                    </a:p>
                  </a:txBody>
                  <a:tcPr marL="109644" marR="109644" marT="54822" marB="54822"/>
                </a:tc>
                <a:extLst>
                  <a:ext uri="{0D108BD9-81ED-4DB2-BD59-A6C34878D82A}">
                    <a16:rowId xmlns:a16="http://schemas.microsoft.com/office/drawing/2014/main" val="4224472227"/>
                  </a:ext>
                </a:extLst>
              </a:tr>
              <a:tr h="4334214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GreenFleet acquired exploration rights to a potential lithium deposit in South</a:t>
                      </a: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America. </a:t>
                      </a:r>
                    </a:p>
                    <a:p>
                      <a:pPr algn="just"/>
                      <a:r>
                        <a:rPr lang="en-US" sz="1800"/>
                        <a:t>Early assessments: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30%</a:t>
                      </a:r>
                      <a:r>
                        <a:rPr lang="en-US" sz="1800"/>
                        <a:t> chance of a Rich Site → </a:t>
                      </a:r>
                      <a:r>
                        <a:rPr lang="en-US" sz="1800" b="1"/>
                        <a:t>+$4M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40%</a:t>
                      </a:r>
                      <a:r>
                        <a:rPr lang="en-US" sz="1800"/>
                        <a:t> chance of Moderate Site → </a:t>
                      </a:r>
                      <a:r>
                        <a:rPr lang="en-US" sz="1800" b="1"/>
                        <a:t>$0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30%</a:t>
                      </a:r>
                      <a:r>
                        <a:rPr lang="en-US" sz="1800"/>
                        <a:t> chance of Dry Site → </a:t>
                      </a:r>
                      <a:r>
                        <a:rPr lang="en-US" sz="1800" b="1"/>
                        <a:t>–$1.8M</a:t>
                      </a:r>
                    </a:p>
                    <a:p>
                      <a:pPr algn="just"/>
                      <a:endParaRPr lang="en-US" sz="1800" b="1"/>
                    </a:p>
                    <a:p>
                      <a:pPr algn="just"/>
                      <a:r>
                        <a:rPr lang="en-US" sz="1800" b="1"/>
                        <a:t>Information Gathering: </a:t>
                      </a:r>
                      <a:endParaRPr lang="en-US" sz="18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A </a:t>
                      </a:r>
                      <a:r>
                        <a:rPr lang="en-US" sz="1800" b="1"/>
                        <a:t>$300K hydrogeological survey</a:t>
                      </a:r>
                      <a:r>
                        <a:rPr lang="en-US" sz="1800"/>
                        <a:t> could provide predictive insights.</a:t>
                      </a:r>
                    </a:p>
                    <a:p>
                      <a:pPr algn="just">
                        <a:buNone/>
                      </a:pPr>
                      <a:endParaRPr lang="en-US" sz="1800" b="0" i="0">
                        <a:latin typeface="Abadi" panose="020B0604020104020204" pitchFamily="34" charset="0"/>
                      </a:endParaRPr>
                    </a:p>
                  </a:txBody>
                  <a:tcPr marL="109644" marR="109644" marT="54822" marB="54822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GreenFleet plans a new </a:t>
                      </a:r>
                      <a:r>
                        <a:rPr lang="en-US" sz="1800" b="1"/>
                        <a:t>EV production facility</a:t>
                      </a:r>
                      <a:endParaRPr lang="en-US" sz="18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Capacity: </a:t>
                      </a:r>
                      <a:r>
                        <a:rPr lang="en-US" sz="1800" b="1"/>
                        <a:t>10K–40K vehicles/year</a:t>
                      </a:r>
                      <a:r>
                        <a:rPr lang="en-US" sz="1800"/>
                        <a:t> (in 5K steps)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Investment to construct facility :</a:t>
                      </a:r>
                      <a:r>
                        <a:rPr lang="en-US" sz="1800"/>
                        <a:t> $150M per 5K capacity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Production cost :</a:t>
                      </a:r>
                      <a:r>
                        <a:rPr lang="en-US" sz="1800"/>
                        <a:t> $20K/unit  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Selling price :</a:t>
                      </a:r>
                      <a:r>
                        <a:rPr lang="en-US" sz="1800"/>
                        <a:t> $35K/unit</a:t>
                      </a:r>
                    </a:p>
                    <a:p>
                      <a:endParaRPr lang="en-US" sz="1800"/>
                    </a:p>
                    <a:p>
                      <a:r>
                        <a:rPr lang="en-US" sz="1800"/>
                        <a:t>Risks: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Overproduction:</a:t>
                      </a:r>
                      <a:r>
                        <a:rPr lang="en-US" sz="1800"/>
                        <a:t> Idle capacity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Underproduction:</a:t>
                      </a:r>
                      <a:r>
                        <a:rPr lang="en-US" sz="1800"/>
                        <a:t> Lost sales</a:t>
                      </a:r>
                    </a:p>
                    <a:p>
                      <a:endParaRPr lang="en-US" sz="1800" b="1"/>
                    </a:p>
                    <a:p>
                      <a:r>
                        <a:rPr lang="en-US" sz="1800" b="1"/>
                        <a:t>Demand uncertain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Uniformly distributed between 7K–50K units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/>
                        <a:t>YoY variability:</a:t>
                      </a:r>
                      <a:r>
                        <a:rPr lang="en-US" sz="1800"/>
                        <a:t> Normally distributed with </a:t>
                      </a:r>
                      <a:r>
                        <a:rPr lang="el-GR" sz="1800"/>
                        <a:t>σ = 2.5</a:t>
                      </a:r>
                      <a:r>
                        <a:rPr lang="en-US" sz="1800"/>
                        <a:t>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/>
                        <a:t>Demand levels correlated: </a:t>
                      </a:r>
                      <a:r>
                        <a:rPr lang="el-GR" sz="1800" b="1"/>
                        <a:t>ρ </a:t>
                      </a:r>
                      <a:r>
                        <a:rPr lang="en-US" sz="1800" b="1"/>
                        <a:t>= 0.8</a:t>
                      </a:r>
                      <a:endParaRPr lang="en-US" sz="1800"/>
                    </a:p>
                    <a:p>
                      <a:endParaRPr lang="en-US" sz="1800" b="0" i="0">
                        <a:latin typeface="Abadi" panose="020B0604020104020204" pitchFamily="34" charset="0"/>
                      </a:endParaRPr>
                    </a:p>
                  </a:txBody>
                  <a:tcPr marL="109644" marR="109644" marT="54822" marB="54822"/>
                </a:tc>
                <a:extLst>
                  <a:ext uri="{0D108BD9-81ED-4DB2-BD59-A6C34878D82A}">
                    <a16:rowId xmlns:a16="http://schemas.microsoft.com/office/drawing/2014/main" val="71274598"/>
                  </a:ext>
                </a:extLst>
              </a:tr>
            </a:tbl>
          </a:graphicData>
        </a:graphic>
      </p:graphicFrame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4730DDCC-51B2-FBA0-1E6E-1D0C01E83F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3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41BF0-DDC6-11CB-A11F-64E4FA7F2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FDF8956-F795-5F7B-3734-2A7FC1438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Proposed Solution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EDB4976-0D3D-3990-01ED-208E04B93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r>
              <a:rPr lang="en-US" sz="11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i)</a:t>
            </a:r>
            <a:b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r>
              <a:rPr lang="en-US" sz="11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ii)</a:t>
            </a: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1CBE0C7-10C3-21F1-14A0-7C3F078D3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065718"/>
              </p:ext>
            </p:extLst>
          </p:nvPr>
        </p:nvGraphicFramePr>
        <p:xfrm>
          <a:off x="553156" y="1822348"/>
          <a:ext cx="11029244" cy="435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2120">
                  <a:extLst>
                    <a:ext uri="{9D8B030D-6E8A-4147-A177-3AD203B41FA5}">
                      <a16:colId xmlns:a16="http://schemas.microsoft.com/office/drawing/2014/main" val="926385560"/>
                    </a:ext>
                  </a:extLst>
                </a:gridCol>
                <a:gridCol w="5407124">
                  <a:extLst>
                    <a:ext uri="{9D8B030D-6E8A-4147-A177-3AD203B41FA5}">
                      <a16:colId xmlns:a16="http://schemas.microsoft.com/office/drawing/2014/main" val="1469743365"/>
                    </a:ext>
                  </a:extLst>
                </a:gridCol>
              </a:tblGrid>
              <a:tr h="812811">
                <a:tc>
                  <a:txBody>
                    <a:bodyPr/>
                    <a:lstStyle/>
                    <a:p>
                      <a:pPr algn="just"/>
                      <a:r>
                        <a:rPr lang="en-US" sz="1900" b="0" i="0">
                          <a:effectLst/>
                          <a:latin typeface="Abadi" panose="020B0604020104020204" pitchFamily="34" charset="0"/>
                        </a:rPr>
                        <a:t>Lithium Resource Investment</a:t>
                      </a:r>
                    </a:p>
                    <a:p>
                      <a:pPr algn="just">
                        <a:buNone/>
                      </a:pPr>
                      <a:endParaRPr lang="en-US" sz="1900" b="0" i="0">
                        <a:latin typeface="Abadi" panose="020B0604020104020204" pitchFamily="34" charset="0"/>
                      </a:endParaRPr>
                    </a:p>
                  </a:txBody>
                  <a:tcPr marL="109644" marR="109644" marT="54822" marB="548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b="0" i="0">
                          <a:effectLst/>
                          <a:latin typeface="Abadi" panose="020B0604020104020204" pitchFamily="34" charset="0"/>
                        </a:rPr>
                        <a:t>Demand Prediction for EV manufacturing</a:t>
                      </a:r>
                    </a:p>
                    <a:p>
                      <a:endParaRPr lang="en-US" sz="1900" b="0" i="0">
                        <a:latin typeface="Abadi" panose="020B0604020104020204" pitchFamily="34" charset="0"/>
                      </a:endParaRPr>
                    </a:p>
                  </a:txBody>
                  <a:tcPr marL="109644" marR="109644" marT="54822" marB="54822"/>
                </a:tc>
                <a:extLst>
                  <a:ext uri="{0D108BD9-81ED-4DB2-BD59-A6C34878D82A}">
                    <a16:rowId xmlns:a16="http://schemas.microsoft.com/office/drawing/2014/main" val="4224472227"/>
                  </a:ext>
                </a:extLst>
              </a:tr>
              <a:tr h="354648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 b="0" i="0">
                          <a:latin typeface="Abadi" panose="020B0604020104020204" pitchFamily="34" charset="0"/>
                        </a:rPr>
                        <a:t>Objective- </a:t>
                      </a:r>
                    </a:p>
                    <a:p>
                      <a:pPr algn="just">
                        <a:buNone/>
                      </a:pPr>
                      <a:r>
                        <a:rPr lang="en-US" sz="1900" b="0" i="0">
                          <a:latin typeface="Abadi" panose="020B0604020104020204" pitchFamily="34" charset="0"/>
                        </a:rPr>
                        <a:t>Given probabilities and their respective monetary outcomes, decide whether </a:t>
                      </a:r>
                    </a:p>
                    <a:p>
                      <a:pPr algn="just">
                        <a:buNone/>
                      </a:pPr>
                      <a:r>
                        <a:rPr lang="en-US" sz="1900" b="0" i="0">
                          <a:latin typeface="Abadi" panose="020B0604020104020204" pitchFamily="34" charset="0"/>
                        </a:rPr>
                        <a:t>to conduct the survey or not </a:t>
                      </a:r>
                    </a:p>
                    <a:p>
                      <a:pPr algn="just">
                        <a:buNone/>
                      </a:pPr>
                      <a:r>
                        <a:rPr lang="en-US" sz="1900" b="0" i="0">
                          <a:latin typeface="Abadi" panose="020B0604020104020204" pitchFamily="34" charset="0"/>
                        </a:rPr>
                        <a:t>Based on survey results, whether to make the final investments </a:t>
                      </a:r>
                    </a:p>
                    <a:p>
                      <a:pPr algn="just">
                        <a:buNone/>
                      </a:pPr>
                      <a:endParaRPr lang="en-US" sz="1900" b="0" i="0">
                        <a:latin typeface="Abadi" panose="020B0604020104020204" pitchFamily="34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900" b="0" i="0">
                          <a:latin typeface="Abadi" panose="020B0604020104020204" pitchFamily="34" charset="0"/>
                        </a:rPr>
                        <a:t>Tool-</a:t>
                      </a:r>
                    </a:p>
                    <a:p>
                      <a:pPr algn="just">
                        <a:buNone/>
                      </a:pPr>
                      <a:r>
                        <a:rPr lang="en-US" sz="1900" b="0" i="0">
                          <a:latin typeface="Abadi" panose="020B0604020104020204" pitchFamily="34" charset="0"/>
                        </a:rPr>
                        <a:t>Decision Tree (Precision Tree Software)</a:t>
                      </a:r>
                    </a:p>
                    <a:p>
                      <a:pPr algn="just">
                        <a:buNone/>
                      </a:pPr>
                      <a:endParaRPr lang="en-US" sz="1900" b="0" i="0">
                        <a:latin typeface="Abadi" panose="020B0604020104020204" pitchFamily="34" charset="0"/>
                      </a:endParaRPr>
                    </a:p>
                  </a:txBody>
                  <a:tcPr marL="109644" marR="109644" marT="54822" marB="54822"/>
                </a:tc>
                <a:tc>
                  <a:txBody>
                    <a:bodyPr/>
                    <a:lstStyle/>
                    <a:p>
                      <a:r>
                        <a:rPr lang="en-US" sz="1900" b="0" i="0">
                          <a:latin typeface="Abadi" panose="020B0604020104020204" pitchFamily="34" charset="0"/>
                        </a:rPr>
                        <a:t>Objective-</a:t>
                      </a:r>
                    </a:p>
                    <a:p>
                      <a:r>
                        <a:rPr lang="en-US" sz="1900" b="0" i="0">
                          <a:latin typeface="Abadi" panose="020B0604020104020204" pitchFamily="34" charset="0"/>
                        </a:rPr>
                        <a:t>Given the big investment, multiple possibilities and unknown business impacts simulate the scenarios</a:t>
                      </a:r>
                    </a:p>
                    <a:p>
                      <a:endParaRPr lang="en-US" sz="1900" b="0" i="0">
                        <a:latin typeface="Abadi" panose="020B0604020104020204" pitchFamily="34" charset="0"/>
                      </a:endParaRPr>
                    </a:p>
                    <a:p>
                      <a:r>
                        <a:rPr lang="en-US" sz="1900" b="0" i="0">
                          <a:latin typeface="Abadi" panose="020B0604020104020204" pitchFamily="34" charset="0"/>
                        </a:rPr>
                        <a:t>Balance risks &amp; returns</a:t>
                      </a:r>
                    </a:p>
                    <a:p>
                      <a:r>
                        <a:rPr lang="en-US" sz="1900" b="0" i="0">
                          <a:latin typeface="Abadi" panose="020B0604020104020204" pitchFamily="34" charset="0"/>
                        </a:rPr>
                        <a:t>Maximize profit</a:t>
                      </a:r>
                    </a:p>
                    <a:p>
                      <a:endParaRPr lang="en-US" sz="1900" b="0" i="0">
                        <a:latin typeface="Abadi" panose="020B0604020104020204" pitchFamily="34" charset="0"/>
                      </a:endParaRPr>
                    </a:p>
                    <a:p>
                      <a:r>
                        <a:rPr lang="en-US" sz="1900" b="0" i="0">
                          <a:latin typeface="Abadi" panose="020B0604020104020204" pitchFamily="34" charset="0"/>
                        </a:rPr>
                        <a:t>Tool –</a:t>
                      </a:r>
                    </a:p>
                    <a:p>
                      <a:r>
                        <a:rPr lang="en-US" sz="1900" b="0" i="0">
                          <a:latin typeface="Abadi" panose="020B0604020104020204" pitchFamily="34" charset="0"/>
                        </a:rPr>
                        <a:t>Monte Carlo Simulation (Risk Software)</a:t>
                      </a:r>
                    </a:p>
                    <a:p>
                      <a:endParaRPr lang="en-US" sz="1900" b="0" i="0">
                        <a:latin typeface="Abadi" panose="020B0604020104020204" pitchFamily="34" charset="0"/>
                      </a:endParaRPr>
                    </a:p>
                  </a:txBody>
                  <a:tcPr marL="109644" marR="109644" marT="54822" marB="54822"/>
                </a:tc>
                <a:extLst>
                  <a:ext uri="{0D108BD9-81ED-4DB2-BD59-A6C34878D82A}">
                    <a16:rowId xmlns:a16="http://schemas.microsoft.com/office/drawing/2014/main" val="71274598"/>
                  </a:ext>
                </a:extLst>
              </a:tr>
            </a:tbl>
          </a:graphicData>
        </a:graphic>
      </p:graphicFrame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0DA03D59-B432-6D68-E948-A40237DFEA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704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4D4F4-68DF-42C1-9F99-E0CA0F03B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0782FF6B-4EE5-6292-2436-62839E720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DC1BF3CF-2FF9-4B05-1260-38D3B7A9D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8A188B3-88F6-A8B3-50E4-33507F945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AE708C8F-4C06-DA93-A946-36FD76CFD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2E86AAC-78FC-C0FF-7E10-55A36D96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</a:rPr>
              <a:t>Decision Tree + Bayes</a:t>
            </a:r>
            <a:endParaRPr lang="en-US" sz="40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EF21DB4-5D46-11C7-AB08-7F6F84B20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BEDEADA8-F544-01D1-786B-78FBF25401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diagram of a survey&#10;&#10;AI-generated content may be incorrect.">
            <a:extLst>
              <a:ext uri="{FF2B5EF4-FFF2-40B4-BE49-F238E27FC236}">
                <a16:creationId xmlns:a16="http://schemas.microsoft.com/office/drawing/2014/main" id="{E4A376B7-0F25-D402-F634-F05AD2528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74509"/>
            <a:ext cx="12192000" cy="3584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0B8FA8-B01D-CDF8-70D9-352AC39E53BA}"/>
              </a:ext>
            </a:extLst>
          </p:cNvPr>
          <p:cNvSpPr txBox="1"/>
          <p:nvPr/>
        </p:nvSpPr>
        <p:spPr>
          <a:xfrm>
            <a:off x="564931" y="1852447"/>
            <a:ext cx="58989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optimal path based on the expected value of money shows no survey is best in the given conditions.</a:t>
            </a:r>
          </a:p>
        </p:txBody>
      </p:sp>
    </p:spTree>
    <p:extLst>
      <p:ext uri="{BB962C8B-B14F-4D97-AF65-F5344CB8AC3E}">
        <p14:creationId xmlns:p14="http://schemas.microsoft.com/office/powerpoint/2010/main" val="2940176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74F02-38E0-DF1E-682A-3AA89C45C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D2BD4965-154C-58E0-CC99-667E363EA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F18A4E4F-69A9-1BD6-3099-CC773F5B6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29831C57-EC16-7E20-9509-BFE3BEA26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79BF5E18-F3ED-E448-9420-862DDF029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8BB61D4-ED16-3BB3-308A-3CB1B27D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</a:rPr>
              <a:t>Findings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F5D16C2-D5A7-4A0E-DB66-31EC87FBE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03471EBD-C709-9690-DA12-222CDBD952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66A302-ADC9-24B1-88BA-26AE93E2F773}"/>
              </a:ext>
            </a:extLst>
          </p:cNvPr>
          <p:cNvSpPr txBox="1"/>
          <p:nvPr/>
        </p:nvSpPr>
        <p:spPr>
          <a:xfrm>
            <a:off x="478092" y="2797264"/>
            <a:ext cx="5506178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• Compared two options: invest directly vs. conduct survey first 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• Survey cost: $0.3 M  ,  Accuracy: 70–75 % 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• Site outcomes: Rich (0.3) , Moderate (0.4) , Dry (0.3)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• Financial payoffs ($ M):  Rich 4.0 , Moderate 0, Dry –1.8</a:t>
            </a:r>
            <a:endParaRPr lang="en-US" sz="2000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CB8F9F-D5A7-5B59-51E9-2455ACBB4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405" y="2088444"/>
            <a:ext cx="5369578" cy="32314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977301-E3E2-724D-0534-6A87E96549FF}"/>
              </a:ext>
            </a:extLst>
          </p:cNvPr>
          <p:cNvSpPr txBox="1"/>
          <p:nvPr/>
        </p:nvSpPr>
        <p:spPr>
          <a:xfrm>
            <a:off x="6498166" y="5602110"/>
            <a:ext cx="52211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Survey adds ≈ $0.21 M in expected value — about 40 % of perfect-information gain.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1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23E50-0E08-3BF2-D613-A090753F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F3DBDB64-21C2-AEED-8411-242F5275D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9C174FB1-EB36-4E3B-46B8-B6E9F4C7A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F88D0454-6C1C-DB64-DE7C-E4F8A2163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47A3875D-D6AF-C9AD-A70E-C938A7392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376468A-250B-5F16-4F74-9339BBF8C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Sensitivity Analysis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6CC0A05-D1A6-CA6A-2352-B2F527FE6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6D0BDCFA-0E33-57D2-0957-32171F342C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1" name="TextBox 2">
            <a:extLst>
              <a:ext uri="{FF2B5EF4-FFF2-40B4-BE49-F238E27FC236}">
                <a16:creationId xmlns:a16="http://schemas.microsoft.com/office/drawing/2014/main" id="{3D1FF043-CA50-4994-A1F8-701DF61574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7252936"/>
              </p:ext>
            </p:extLst>
          </p:nvPr>
        </p:nvGraphicFramePr>
        <p:xfrm>
          <a:off x="598339" y="2384293"/>
          <a:ext cx="6179581" cy="3759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7" name="Picture 46" descr="A graph of a graph&#10;&#10;AI-generated content may be incorrect.">
            <a:extLst>
              <a:ext uri="{FF2B5EF4-FFF2-40B4-BE49-F238E27FC236}">
                <a16:creationId xmlns:a16="http://schemas.microsoft.com/office/drawing/2014/main" id="{41C4E6BB-879A-4EE1-1301-C67BAA1F0FE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8975" r="104" b="190"/>
          <a:stretch>
            <a:fillRect/>
          </a:stretch>
        </p:blipFill>
        <p:spPr>
          <a:xfrm>
            <a:off x="6992835" y="2874578"/>
            <a:ext cx="4817579" cy="27951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9AAAA7-4724-DB8B-5C60-011053ED8D5F}"/>
              </a:ext>
            </a:extLst>
          </p:cNvPr>
          <p:cNvSpPr txBox="1"/>
          <p:nvPr/>
        </p:nvSpPr>
        <p:spPr>
          <a:xfrm>
            <a:off x="7646275" y="2877207"/>
            <a:ext cx="4545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Sensitivity of survey cost</a:t>
            </a:r>
          </a:p>
        </p:txBody>
      </p:sp>
    </p:spTree>
    <p:extLst>
      <p:ext uri="{BB962C8B-B14F-4D97-AF65-F5344CB8AC3E}">
        <p14:creationId xmlns:p14="http://schemas.microsoft.com/office/powerpoint/2010/main" val="2439835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0B86A-AFEE-4793-B855-8643FD9E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F4AF3580-4422-5ECD-EACE-B9C3D94BE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E93C1514-49C8-ADF9-2447-FC3F84F0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4A99D8C-5B0D-8365-C758-CDA2CF072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D964969F-1899-6CD2-2523-4CC6E77AB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B56B2FD-DDDA-670A-F654-E152223A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</a:rPr>
              <a:t>Constrained Recommendations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D490E6B-0BBF-DC08-EBAB-65A51297F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31DE542D-7AB6-249C-2CB7-026D0BB1F0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2C5172-6E6C-100E-2031-8D3A39B9E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924041"/>
              </p:ext>
            </p:extLst>
          </p:nvPr>
        </p:nvGraphicFramePr>
        <p:xfrm>
          <a:off x="2011680" y="1878514"/>
          <a:ext cx="81686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4171555169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60244251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383084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Sensitivity (change)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447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Probability of rich sites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always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065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Payoff of rich sites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Payoff &lt; $350,000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Payoff &gt; $350,000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75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Loss cost of dry sites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Loss cost &lt; -$1,890,000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Loss cost &gt; -$1,800,000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884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bg1"/>
                          </a:solidFill>
                        </a:rPr>
                        <a:t>Cost of Survey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Cost &lt; $285,000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Cost &gt; $285,000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93162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0C7CA42-58E8-6565-C619-58FC835845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217" r="129" b="178"/>
          <a:stretch>
            <a:fillRect/>
          </a:stretch>
        </p:blipFill>
        <p:spPr>
          <a:xfrm>
            <a:off x="5477578" y="3888827"/>
            <a:ext cx="5092832" cy="2970454"/>
          </a:xfrm>
          <a:prstGeom prst="rect">
            <a:avLst/>
          </a:prstGeom>
        </p:spPr>
      </p:pic>
      <p:pic>
        <p:nvPicPr>
          <p:cNvPr id="11" name="Picture 10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16609759-13B1-ED58-14E8-C8B0E62C23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478" r="1314" b="181"/>
          <a:stretch>
            <a:fillRect/>
          </a:stretch>
        </p:blipFill>
        <p:spPr>
          <a:xfrm>
            <a:off x="-939" y="3855983"/>
            <a:ext cx="4934444" cy="2944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C9CC62-0C81-10EF-A421-AB515AA67952}"/>
              </a:ext>
            </a:extLst>
          </p:cNvPr>
          <p:cNvSpPr txBox="1"/>
          <p:nvPr/>
        </p:nvSpPr>
        <p:spPr>
          <a:xfrm>
            <a:off x="558362" y="3875688"/>
            <a:ext cx="3396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Sensitivity of rich site payoffs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5EB03-1308-7A04-B942-02EF1548EBB9}"/>
              </a:ext>
            </a:extLst>
          </p:cNvPr>
          <p:cNvSpPr txBox="1"/>
          <p:nvPr/>
        </p:nvSpPr>
        <p:spPr>
          <a:xfrm>
            <a:off x="6096000" y="3855982"/>
            <a:ext cx="3356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Sensitivity of dry site loss costs</a:t>
            </a:r>
          </a:p>
        </p:txBody>
      </p:sp>
    </p:spTree>
    <p:extLst>
      <p:ext uri="{BB962C8B-B14F-4D97-AF65-F5344CB8AC3E}">
        <p14:creationId xmlns:p14="http://schemas.microsoft.com/office/powerpoint/2010/main" val="208616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A4B99-4224-AF14-CA89-16AF440D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981CFE8C-BF8A-3538-7B4A-216A76BA0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BE211E49-9A74-D651-1C77-04BDEAE41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F0499569-3173-8585-EE23-8B850105F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FFD0D8E3-34E7-9522-1D54-0D703DBD5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F80C741-9623-0344-2D33-F52DEB28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</a:rPr>
              <a:t>Recommendations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13C9DD8-14F2-2A79-46A3-6AABB80ED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9DF42949-B37E-2B6A-4824-74BC458077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0683BF-CBD2-DCF8-7DA1-B73613C36697}"/>
              </a:ext>
            </a:extLst>
          </p:cNvPr>
          <p:cNvSpPr txBox="1"/>
          <p:nvPr/>
        </p:nvSpPr>
        <p:spPr>
          <a:xfrm>
            <a:off x="396177" y="1716479"/>
            <a:ext cx="3832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Main Decision Rule: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0CFCF-5BBF-D14A-BD71-0E2E7FE49EFD}"/>
              </a:ext>
            </a:extLst>
          </p:cNvPr>
          <p:cNvSpPr txBox="1"/>
          <p:nvPr/>
        </p:nvSpPr>
        <p:spPr>
          <a:xfrm>
            <a:off x="396177" y="2581660"/>
            <a:ext cx="3832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Trade-offs: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8235C-263D-652D-3F8E-338E9136F56A}"/>
              </a:ext>
            </a:extLst>
          </p:cNvPr>
          <p:cNvSpPr txBox="1"/>
          <p:nvPr/>
        </p:nvSpPr>
        <p:spPr>
          <a:xfrm>
            <a:off x="396177" y="4932800"/>
            <a:ext cx="3832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Next Steps: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72C52-2023-AB11-31EC-B4327DA3CF31}"/>
              </a:ext>
            </a:extLst>
          </p:cNvPr>
          <p:cNvSpPr txBox="1"/>
          <p:nvPr/>
        </p:nvSpPr>
        <p:spPr>
          <a:xfrm>
            <a:off x="500418" y="1997946"/>
            <a:ext cx="1115704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$</a:t>
            </a:r>
            <a:r>
              <a:rPr lang="en-US" sz="1600" dirty="0"/>
              <a:t> 285,000 is the expected investment if a survey is </a:t>
            </a:r>
            <a:r>
              <a:rPr lang="en-US" sz="1600"/>
              <a:t>done. Do Not Survey if cost exceeds $285,000. </a:t>
            </a:r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76C7B17-604B-C640-7185-8C87BE87F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251770"/>
              </p:ext>
            </p:extLst>
          </p:nvPr>
        </p:nvGraphicFramePr>
        <p:xfrm>
          <a:off x="499241" y="3160319"/>
          <a:ext cx="10932329" cy="1483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119">
                  <a:extLst>
                    <a:ext uri="{9D8B030D-6E8A-4147-A177-3AD203B41FA5}">
                      <a16:colId xmlns:a16="http://schemas.microsoft.com/office/drawing/2014/main" val="3302662729"/>
                    </a:ext>
                  </a:extLst>
                </a:gridCol>
                <a:gridCol w="8612210">
                  <a:extLst>
                    <a:ext uri="{9D8B030D-6E8A-4147-A177-3AD203B41FA5}">
                      <a16:colId xmlns:a16="http://schemas.microsoft.com/office/drawing/2014/main" val="2456654002"/>
                    </a:ext>
                  </a:extLst>
                </a:gridCol>
              </a:tblGrid>
              <a:tr h="347121">
                <a:tc>
                  <a:txBody>
                    <a:bodyPr/>
                    <a:lstStyle/>
                    <a:p>
                      <a:r>
                        <a:rPr lang="en-US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99956"/>
                  </a:ext>
                </a:extLst>
              </a:tr>
              <a:tr h="357969">
                <a:tc>
                  <a:txBody>
                    <a:bodyPr/>
                    <a:lstStyle/>
                    <a:p>
                      <a:r>
                        <a:rPr lang="en-US"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Avoids large financial loss when probability of a dry site or high loss risk is significant.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277737"/>
                  </a:ext>
                </a:extLst>
              </a:tr>
              <a:tr h="386686">
                <a:tc>
                  <a:txBody>
                    <a:bodyPr/>
                    <a:lstStyle/>
                    <a:p>
                      <a:r>
                        <a:rPr lang="en-US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Adds $ 0.3 – $ 0.6 M cost and survey predictions are imperfect (~25 % error margin).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094805"/>
                  </a:ext>
                </a:extLst>
              </a:tr>
              <a:tr h="357969">
                <a:tc>
                  <a:txBody>
                    <a:bodyPr/>
                    <a:lstStyle/>
                    <a:p>
                      <a:r>
                        <a:rPr lang="en-US"/>
                        <a:t>Trade-off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Worth implementing only when downside risk dominates potential profit gain.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8232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C89B124-0E23-0D42-6139-6418C931A4EE}"/>
              </a:ext>
            </a:extLst>
          </p:cNvPr>
          <p:cNvSpPr txBox="1"/>
          <p:nvPr/>
        </p:nvSpPr>
        <p:spPr>
          <a:xfrm>
            <a:off x="500417" y="5303251"/>
            <a:ext cx="1046328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Monitor P(Rich) as new geological data becomes available.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Conduct a smaller pilot survey to validate accuracy and refine Bayesian inputs.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Apply the same risk-analysis framework to Part II (EV capacity planning) via Monte Carlo simulation).</a:t>
            </a:r>
            <a:endParaRPr lang="en-US"/>
          </a:p>
          <a:p>
            <a:pPr marL="285750" indent="-285750" algn="l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35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A2C38-E9FF-C2EB-1DF9-18B94E28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30608E5D-804B-4471-3E6C-6B21856BE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69F90C33-7487-8B9D-788D-2C481DAA0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FF2067F-2962-8D64-34E7-46AD63C81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52425E35-D033-8B42-4250-54519C694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822334-3401-1762-EE9E-78B644E3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>
                <a:solidFill>
                  <a:srgbClr val="FFFFFF"/>
                </a:solidFill>
              </a:rPr>
              <a:t>Using Risk Simulation – Simulation Model Setup</a:t>
            </a:r>
            <a:endParaRPr lang="en-US" sz="40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CEB1D87-3176-3D11-C4CB-4B5C18828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02BD574F-D7B1-FF13-6F94-7EF71D5289C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report&#10;&#10;AI-generated content may be incorrect.">
            <a:extLst>
              <a:ext uri="{FF2B5EF4-FFF2-40B4-BE49-F238E27FC236}">
                <a16:creationId xmlns:a16="http://schemas.microsoft.com/office/drawing/2014/main" id="{38F176C6-4726-A554-C59F-A8C8A42CD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395" y="2057281"/>
            <a:ext cx="3316464" cy="404991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D876AA-28C0-C3B6-B5B8-E07073A8F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34" y="1963501"/>
            <a:ext cx="8330215" cy="11554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BB93F9-E084-B260-254B-D0BD4874F02B}"/>
              </a:ext>
            </a:extLst>
          </p:cNvPr>
          <p:cNvSpPr txBox="1"/>
          <p:nvPr/>
        </p:nvSpPr>
        <p:spPr>
          <a:xfrm>
            <a:off x="268531" y="3269941"/>
            <a:ext cx="8128081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u="sng">
                <a:ea typeface="+mn-lt"/>
                <a:cs typeface="+mn-lt"/>
              </a:rPr>
              <a:t>Decision Variable</a:t>
            </a:r>
            <a:r>
              <a:rPr lang="en-US" sz="1600" u="sng">
                <a:ea typeface="+mn-lt"/>
                <a:cs typeface="+mn-lt"/>
              </a:rPr>
              <a:t> :</a:t>
            </a:r>
            <a:endParaRPr lang="en-US" sz="1600" u="sng"/>
          </a:p>
          <a:p>
            <a:r>
              <a:rPr lang="en-US" sz="1600">
                <a:ea typeface="+mn-lt"/>
                <a:cs typeface="+mn-lt"/>
              </a:rPr>
              <a:t>              Annual production capacity: 10,000 to 40,000 units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            </a:t>
            </a:r>
            <a:r>
              <a:rPr lang="en-US" sz="1600" err="1">
                <a:ea typeface="+mn-lt"/>
                <a:cs typeface="+mn-lt"/>
              </a:rPr>
              <a:t>RiskSimTable</a:t>
            </a:r>
            <a:r>
              <a:rPr lang="en-US" sz="1600">
                <a:ea typeface="+mn-lt"/>
                <a:cs typeface="+mn-lt"/>
              </a:rPr>
              <a:t> function tests all capacity levels simultaneously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 u="sng">
                <a:ea typeface="+mn-lt"/>
                <a:cs typeface="+mn-lt"/>
              </a:rPr>
              <a:t>Uncertain Variables</a:t>
            </a:r>
            <a:r>
              <a:rPr lang="en-US" sz="1600" u="sng">
                <a:ea typeface="+mn-lt"/>
                <a:cs typeface="+mn-lt"/>
              </a:rPr>
              <a:t> :</a:t>
            </a:r>
            <a:endParaRPr lang="en-US" sz="1600" u="sng"/>
          </a:p>
          <a:p>
            <a:r>
              <a:rPr lang="en-US" sz="1600" b="1">
                <a:ea typeface="+mn-lt"/>
                <a:cs typeface="+mn-lt"/>
              </a:rPr>
              <a:t>              Unknown Mean Demand</a:t>
            </a:r>
            <a:r>
              <a:rPr lang="en-US" sz="1600">
                <a:ea typeface="+mn-lt"/>
                <a:cs typeface="+mn-lt"/>
              </a:rPr>
              <a:t>: Uniform distribution (7,000 - 50,000 units)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              Annual Demand</a:t>
            </a:r>
            <a:r>
              <a:rPr lang="en-US" sz="1600">
                <a:ea typeface="+mn-lt"/>
                <a:cs typeface="+mn-lt"/>
              </a:rPr>
              <a:t>: Normal distribution with unknown mean &amp; SD = 2,500 units</a:t>
            </a: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              5-year planning horizon</a:t>
            </a:r>
            <a:r>
              <a:rPr lang="en-US" sz="1600">
                <a:ea typeface="+mn-lt"/>
                <a:cs typeface="+mn-lt"/>
              </a:rPr>
              <a:t> with correlated demand across years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 u="sng">
                <a:ea typeface="+mn-lt"/>
                <a:cs typeface="+mn-lt"/>
              </a:rPr>
              <a:t>Correlation Structure</a:t>
            </a:r>
            <a:r>
              <a:rPr lang="en-US" sz="1600" u="sng">
                <a:ea typeface="+mn-lt"/>
                <a:cs typeface="+mn-lt"/>
              </a:rPr>
              <a:t> :</a:t>
            </a:r>
            <a:endParaRPr lang="en-US" sz="1600" u="sng"/>
          </a:p>
          <a:p>
            <a:r>
              <a:rPr lang="en-US" sz="1600">
                <a:ea typeface="+mn-lt"/>
                <a:cs typeface="+mn-lt"/>
              </a:rPr>
              <a:t>              Year-to-year correlation: 0.80 (consecutive years only)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 u="sng">
                <a:ea typeface="+mn-lt"/>
                <a:cs typeface="+mn-lt"/>
              </a:rPr>
              <a:t>Parameters</a:t>
            </a:r>
            <a:r>
              <a:rPr lang="en-US" sz="1600" u="sng">
                <a:ea typeface="+mn-lt"/>
                <a:cs typeface="+mn-lt"/>
              </a:rPr>
              <a:t> :</a:t>
            </a:r>
            <a:endParaRPr lang="en-US" sz="1600" u="sng"/>
          </a:p>
          <a:p>
            <a:r>
              <a:rPr lang="en-US" sz="1600">
                <a:ea typeface="+mn-lt"/>
                <a:cs typeface="+mn-lt"/>
              </a:rPr>
              <a:t>              Selling price: $35,000/unit | Production cost: $20,000/unit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            Capital cost: $150M per 5,000-unit capacity increment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            Margin: $15,000 per unit sold</a:t>
            </a:r>
            <a:endParaRPr lang="en-US" sz="16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8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359B3-63FA-8C29-5A1B-A6D6C9F1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9" name="Rectangle 105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E27037B-8C59-C034-D026-8165CDB7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</a:rPr>
              <a:t>Using Risk Simulation – Simulation Execution and Results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00CA5BA-E0E5-B5C5-2E4D-0416D5654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1507" y="387224"/>
            <a:ext cx="329183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2000">
                <a:solidFill>
                  <a:srgbClr val="FFFFFF"/>
                </a:solidFill>
              </a:rPr>
            </a:br>
            <a:endParaRPr lang="en-US" sz="2000">
              <a:solidFill>
                <a:srgbClr val="FFFFFF"/>
              </a:solidFill>
            </a:endParaRPr>
          </a:p>
          <a:p>
            <a:pPr marL="0" indent="0">
              <a:spcBef>
                <a:spcPts val="1000"/>
              </a:spcBef>
            </a:pPr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5" name="Picture 4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62404C9E-0855-5E90-9699-5CBDD011C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6" y="1572998"/>
            <a:ext cx="8074475" cy="1859563"/>
          </a:xfrm>
          <a:prstGeom prst="rect">
            <a:avLst/>
          </a:prstGeom>
        </p:spPr>
      </p:pic>
      <p:pic>
        <p:nvPicPr>
          <p:cNvPr id="3" name="Picture 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D0388B95-4FCF-5160-FB8D-B9C769654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0959" y="2357094"/>
            <a:ext cx="3319024" cy="3383793"/>
          </a:xfrm>
          <a:prstGeom prst="rect">
            <a:avLst/>
          </a:prstGeom>
        </p:spPr>
      </p:pic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2C3273DB-473B-9850-3884-FD92713A8E7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6F9691-0FB0-1A68-1B3E-6AD064934E18}"/>
              </a:ext>
            </a:extLst>
          </p:cNvPr>
          <p:cNvSpPr txBox="1"/>
          <p:nvPr/>
        </p:nvSpPr>
        <p:spPr>
          <a:xfrm>
            <a:off x="413783" y="3426468"/>
            <a:ext cx="832495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600" b="1" u="sng"/>
              <a:t>Simulation Configuration:</a:t>
            </a:r>
          </a:p>
          <a:p>
            <a:r>
              <a:rPr lang="en-US" sz="1600"/>
              <a:t>             5000 iterations per capacity</a:t>
            </a:r>
          </a:p>
          <a:p>
            <a:r>
              <a:rPr lang="en-US" sz="1600"/>
              <a:t>             7 simulations</a:t>
            </a:r>
          </a:p>
          <a:p>
            <a:r>
              <a:rPr lang="en-US" sz="1600"/>
              <a:t>             Used Monte Carlo sampling with correlation</a:t>
            </a:r>
          </a:p>
          <a:p>
            <a:pPr marL="342900" indent="-342900">
              <a:buFont typeface="Arial"/>
              <a:buChar char="•"/>
            </a:pPr>
            <a:r>
              <a:rPr lang="en-US" sz="1600" b="1" u="sng"/>
              <a:t>Model Logic:</a:t>
            </a:r>
          </a:p>
          <a:p>
            <a:r>
              <a:rPr lang="en-US" sz="1600"/>
              <a:t>             Production = MIN( capacity, Actual Demand) each year</a:t>
            </a:r>
          </a:p>
          <a:p>
            <a:r>
              <a:rPr lang="en-US" sz="1600"/>
              <a:t>             Annual Profit = Units produced * $15000 margin</a:t>
            </a:r>
          </a:p>
          <a:p>
            <a:r>
              <a:rPr lang="en-US" sz="1600"/>
              <a:t>             Net Profit = Total 5-year Profit – Capital Investment</a:t>
            </a:r>
          </a:p>
          <a:p>
            <a:pPr marL="342900" indent="-342900">
              <a:buFont typeface="Arial"/>
              <a:buChar char="•"/>
            </a:pPr>
            <a:r>
              <a:rPr lang="en-US" sz="1600" b="1" u="sng"/>
              <a:t>Output Metrics Tracked :</a:t>
            </a:r>
          </a:p>
          <a:p>
            <a:r>
              <a:rPr lang="en-US" sz="1600"/>
              <a:t>             Mean Profit, SD, 5th/50th/95th Percentiles, Probability of loss, Min/Max profit</a:t>
            </a:r>
          </a:p>
          <a:p>
            <a:pPr marL="342900" indent="-342900">
              <a:buFont typeface="Arial"/>
              <a:buChar char="•"/>
            </a:pPr>
            <a:r>
              <a:rPr lang="en-US" sz="1600" b="1" u="sng"/>
              <a:t>Key Simulation Insights:</a:t>
            </a:r>
          </a:p>
          <a:p>
            <a:r>
              <a:rPr lang="en-US" sz="1600"/>
              <a:t>             Optimal Capacity: 30000 units – with highest mean profit - $884M</a:t>
            </a:r>
          </a:p>
          <a:p>
            <a:r>
              <a:rPr lang="en-US" sz="1600"/>
              <a:t>             Trade-off: Higher Capacity = Higher Potential but greater Risk</a:t>
            </a:r>
          </a:p>
          <a:p>
            <a:r>
              <a:rPr lang="en-US" sz="1600"/>
              <a:t>             P(Loss) increases from 0.05% to 20.7%</a:t>
            </a:r>
          </a:p>
        </p:txBody>
      </p:sp>
    </p:spTree>
    <p:extLst>
      <p:ext uri="{BB962C8B-B14F-4D97-AF65-F5344CB8AC3E}">
        <p14:creationId xmlns:p14="http://schemas.microsoft.com/office/powerpoint/2010/main" val="3142428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6B70A-0212-CEF8-EBBF-4AC8CF8E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9B0882CF-8CE3-FEA4-7C2A-9B41CB24D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5E6C33DF-BB99-4A91-602B-DFE5FD8A1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4A7CDB1-3E17-2341-84E2-F47AD0301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65C5A91-1ED0-F720-813E-68BC06DC9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3DE54C-148B-1037-6F2D-C8E09EF81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15662" y="323888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BB8BD51-6AA0-2178-5083-3DD9B6652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9748CF1C-1D34-60BF-1D16-2D9A3C7DE1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ED8F7D29-709F-B901-7E84-7194BC832865}"/>
              </a:ext>
            </a:extLst>
          </p:cNvPr>
          <p:cNvSpPr txBox="1">
            <a:spLocks/>
          </p:cNvSpPr>
          <p:nvPr/>
        </p:nvSpPr>
        <p:spPr>
          <a:xfrm>
            <a:off x="1723538" y="5722388"/>
            <a:ext cx="9993664" cy="1266523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rmAutofit lnSpcReduction="10000"/>
          </a:bodyPr>
          <a:lstStyle>
            <a:lvl1pPr lvl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 kern="1200">
                <a:solidFill>
                  <a:schemeClr val="dk2"/>
                </a:solidFill>
                <a:latin typeface="+mj-lt"/>
                <a:ea typeface="+mj-ea"/>
                <a:cs typeface="+mj-cs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br>
              <a:rPr lang="en-US" sz="1800" i="1"/>
            </a:br>
            <a:r>
              <a:rPr lang="en-US" sz="1800" i="1">
                <a:solidFill>
                  <a:srgbClr val="000000"/>
                </a:solidFill>
              </a:rPr>
              <a:t>Capacity 30,000 and upwards the increase in profit expected becomes marginal and flattens.</a:t>
            </a:r>
            <a:br>
              <a:rPr lang="en-US" sz="1800" i="1"/>
            </a:br>
            <a:br>
              <a:rPr lang="en-US" sz="1800" i="1"/>
            </a:br>
            <a:br>
              <a:rPr lang="en-US" sz="1800" i="1"/>
            </a:br>
            <a:endParaRPr lang="en-US" sz="1800" i="1">
              <a:solidFill>
                <a:srgbClr val="000000"/>
              </a:solidFill>
            </a:endParaRPr>
          </a:p>
        </p:txBody>
      </p:sp>
      <p:pic>
        <p:nvPicPr>
          <p:cNvPr id="3" name="Picture 2" descr="A graph with blue lines&#10;&#10;AI-generated content may be incorrect.">
            <a:extLst>
              <a:ext uri="{FF2B5EF4-FFF2-40B4-BE49-F238E27FC236}">
                <a16:creationId xmlns:a16="http://schemas.microsoft.com/office/drawing/2014/main" id="{5B2B3891-D65F-1513-7438-ABB135410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922" y="1896279"/>
            <a:ext cx="5665021" cy="3838726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5A84B5DD-BBF4-5423-A9A7-0B865CBA208E}"/>
              </a:ext>
            </a:extLst>
          </p:cNvPr>
          <p:cNvSpPr txBox="1">
            <a:spLocks/>
          </p:cNvSpPr>
          <p:nvPr/>
        </p:nvSpPr>
        <p:spPr>
          <a:xfrm>
            <a:off x="206023" y="205108"/>
            <a:ext cx="9854143" cy="1159200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 kern="1200">
                <a:solidFill>
                  <a:schemeClr val="dk2"/>
                </a:solidFill>
                <a:latin typeface="+mj-lt"/>
                <a:ea typeface="+mj-ea"/>
                <a:cs typeface="+mj-cs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</a:rPr>
              <a:t>Findings:  Profit vs Capacity</a:t>
            </a:r>
          </a:p>
        </p:txBody>
      </p:sp>
    </p:spTree>
    <p:extLst>
      <p:ext uri="{BB962C8B-B14F-4D97-AF65-F5344CB8AC3E}">
        <p14:creationId xmlns:p14="http://schemas.microsoft.com/office/powerpoint/2010/main" val="3490606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F8332-3C00-266D-CE95-6F0F7982B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A2ADFA78-18ED-582A-52F3-D2995762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5F61BA40-F071-7927-413F-93DF4183A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33477DE-1213-D58C-F758-40688D5C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2701B0F5-75B9-FDED-2D99-2B04B459C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5AFDFB9-B2BB-336C-D31D-24F6481F3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96BFA05C-A431-C130-8CBC-7C4E6BD66C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D472E9CD-1B8D-7694-3D8B-26617EED8B59}"/>
              </a:ext>
            </a:extLst>
          </p:cNvPr>
          <p:cNvSpPr txBox="1">
            <a:spLocks/>
          </p:cNvSpPr>
          <p:nvPr/>
        </p:nvSpPr>
        <p:spPr>
          <a:xfrm>
            <a:off x="703961" y="5872640"/>
            <a:ext cx="10100988" cy="1159200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 kern="1200">
                <a:solidFill>
                  <a:schemeClr val="dk2"/>
                </a:solidFill>
                <a:latin typeface="+mj-lt"/>
                <a:ea typeface="+mj-ea"/>
                <a:cs typeface="+mj-cs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1800" i="1">
                <a:solidFill>
                  <a:srgbClr val="000000"/>
                </a:solidFill>
              </a:rPr>
              <a:t>Higher capacity  increases the potential profit expected but also increases loss probability</a:t>
            </a:r>
            <a:br>
              <a:rPr lang="en-US" sz="1800" i="1"/>
            </a:br>
            <a:br>
              <a:rPr lang="en-US" sz="1800" i="1"/>
            </a:br>
            <a:br>
              <a:rPr lang="en-US" sz="1800"/>
            </a:br>
            <a:endParaRPr lang="en-US" sz="1800">
              <a:solidFill>
                <a:srgbClr val="000000"/>
              </a:solidFill>
            </a:endParaRPr>
          </a:p>
        </p:txBody>
      </p:sp>
      <p:pic>
        <p:nvPicPr>
          <p:cNvPr id="6" name="Picture 5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4B639CBC-4893-D0F0-98CF-0DF991501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510" y="1874815"/>
            <a:ext cx="5492840" cy="3752314"/>
          </a:xfrm>
          <a:prstGeom prst="rect">
            <a:avLst/>
          </a:prstGeom>
        </p:spPr>
      </p:pic>
      <p:sp>
        <p:nvSpPr>
          <p:cNvPr id="13" name="Title 6">
            <a:extLst>
              <a:ext uri="{FF2B5EF4-FFF2-40B4-BE49-F238E27FC236}">
                <a16:creationId xmlns:a16="http://schemas.microsoft.com/office/drawing/2014/main" id="{832E0116-6F37-D270-68F3-E70801FA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23" y="205108"/>
            <a:ext cx="9854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</a:rPr>
              <a:t>Findings:  Probability of Loss</a:t>
            </a:r>
          </a:p>
        </p:txBody>
      </p:sp>
    </p:spTree>
    <p:extLst>
      <p:ext uri="{BB962C8B-B14F-4D97-AF65-F5344CB8AC3E}">
        <p14:creationId xmlns:p14="http://schemas.microsoft.com/office/powerpoint/2010/main" val="2029342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D8FF8-A4E5-DAD9-787E-8A32DEA71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86872EAE-67E6-36D1-1559-CECDC0F4A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EECA3D6-4B15-8C4C-9586-CB48FC9CE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63DE0D7C-7C8F-B4A0-466F-67670429D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409F408F-C000-D76A-E664-F6D630BD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8AB296D-DB0D-F26E-C630-54EE6D38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23" y="205108"/>
            <a:ext cx="9854143" cy="1159200"/>
          </a:xfrm>
        </p:spPr>
        <p:txBody>
          <a:bodyPr spcFirstLastPara="1" vert="horz" wrap="square" lIns="91440" tIns="45720" rIns="91440" bIns="45720" rtlCol="0" anchor="ctr" anchorCtr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b="1">
                <a:solidFill>
                  <a:schemeClr val="bg1"/>
                </a:solidFill>
              </a:rPr>
              <a:t>Findings:  Volatility of Profit Expected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2BD1514-A25E-2134-7078-E24652BD5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4B780B63-16B8-C8C6-1ACB-A8F1C5ED411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E761AB6F-521D-71D6-5BB8-70E63D310F4C}"/>
              </a:ext>
            </a:extLst>
          </p:cNvPr>
          <p:cNvSpPr txBox="1">
            <a:spLocks/>
          </p:cNvSpPr>
          <p:nvPr/>
        </p:nvSpPr>
        <p:spPr>
          <a:xfrm>
            <a:off x="703961" y="5518471"/>
            <a:ext cx="10100988" cy="1159200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 kern="1200">
                <a:solidFill>
                  <a:schemeClr val="dk2"/>
                </a:solidFill>
                <a:latin typeface="+mj-lt"/>
                <a:ea typeface="+mj-ea"/>
                <a:cs typeface="+mj-cs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dk2"/>
                </a:solidFill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br>
              <a:rPr lang="en-US" sz="1800" i="1"/>
            </a:br>
            <a:br>
              <a:rPr lang="en-US" sz="1800" i="1"/>
            </a:br>
            <a:r>
              <a:rPr lang="en-US" sz="1800" i="1">
                <a:solidFill>
                  <a:srgbClr val="000000"/>
                </a:solidFill>
              </a:rPr>
              <a:t>Optimal Profit – Risk trade-off is achieved by 25K capacity decision</a:t>
            </a:r>
            <a:br>
              <a:rPr lang="en-US" sz="1800" i="1"/>
            </a:br>
            <a:br>
              <a:rPr lang="en-US" sz="1800"/>
            </a:br>
            <a:endParaRPr lang="en-US" sz="180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A9C1D-5985-FF1C-67F1-C087F509F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957" y="1713829"/>
            <a:ext cx="5749211" cy="393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5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003EA-6516-F878-476A-F04318F9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9EB2D7B5-1CC0-1402-9E3B-56D37E9F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FF759CD8-C69E-9F4C-B39D-B9FD440B0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1352BBA5-7D58-661C-4C36-B06FD51E6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70658A89-8334-0216-C58C-9B35C32AE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1E4EAD-179A-CE64-DB77-C219C564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</a:rPr>
              <a:t>Recommendations</a:t>
            </a:r>
            <a:endParaRPr lang="en-US" b="1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4E68305-D981-A301-79DD-B0E00D65F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CD8E2D51-E606-28D2-B7D9-010650EB6B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123FF0-5371-C310-5449-2FA94B23A392}"/>
              </a:ext>
            </a:extLst>
          </p:cNvPr>
          <p:cNvSpPr txBox="1"/>
          <p:nvPr/>
        </p:nvSpPr>
        <p:spPr>
          <a:xfrm>
            <a:off x="970880" y="2515807"/>
            <a:ext cx="881129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i="1"/>
              <a:t>Strongly suggest moving forward with 25,000-unit capacity.</a:t>
            </a:r>
            <a:br>
              <a:rPr lang="en-US" i="1"/>
            </a:br>
            <a:endParaRPr lang="en-US" i="1"/>
          </a:p>
          <a:p>
            <a:pPr marL="285750" indent="-285750">
              <a:buFont typeface="Arial"/>
              <a:buChar char="•"/>
            </a:pPr>
            <a:r>
              <a:rPr lang="en-US" i="1"/>
              <a:t>It demonstrates strong profitability with only 7% loss probability</a:t>
            </a:r>
            <a:br>
              <a:rPr lang="en-US" i="1"/>
            </a:br>
            <a:endParaRPr lang="en-US" i="1"/>
          </a:p>
          <a:p>
            <a:pPr marL="285750" indent="-285750">
              <a:buFont typeface="Arial"/>
              <a:buChar char="•"/>
            </a:pPr>
            <a:r>
              <a:rPr lang="en-US" i="1">
                <a:ea typeface="+mn-lt"/>
                <a:cs typeface="+mn-lt"/>
              </a:rPr>
              <a:t>Balances growth potential and financial risk in volatile demand conditions.</a:t>
            </a:r>
            <a:br>
              <a:rPr lang="en-US" i="1"/>
            </a:br>
            <a:endParaRPr lang="en-US" i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i="1">
                <a:ea typeface="+mn-lt"/>
                <a:cs typeface="+mn-lt"/>
              </a:rPr>
              <a:t>Future capacity expansions can be explored if strong demand sustains.</a:t>
            </a:r>
            <a:br>
              <a:rPr lang="en-US" i="1">
                <a:ea typeface="+mn-lt"/>
                <a:cs typeface="+mn-lt"/>
              </a:rPr>
            </a:br>
            <a:endParaRPr lang="en-US" i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i="1">
                <a:ea typeface="+mn-lt"/>
                <a:cs typeface="+mn-lt"/>
              </a:rPr>
              <a:t>Delivers the strongest alignment with GreenFleet’s conservative</a:t>
            </a:r>
            <a:r>
              <a:rPr lang="en-US" b="1" i="1">
                <a:ea typeface="+mn-lt"/>
                <a:cs typeface="+mn-lt"/>
              </a:rPr>
              <a:t> risk averse position</a:t>
            </a:r>
            <a:r>
              <a:rPr lang="en-US" i="1">
                <a:ea typeface="+mn-lt"/>
                <a:cs typeface="+mn-lt"/>
              </a:rPr>
              <a:t> by maximizing return within moderate risk limits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4136579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ACCAE-1FB5-2BB9-6026-692CDF56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BA35E6D0-E357-DD46-5165-17CFFFBA1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F262EDB0-5C6A-D42D-D716-D781F2DB9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47D0CCE-09F5-917B-67F6-4948B7E3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4A52A08D-6370-9515-4338-B52E01922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6C2A2D1-BE52-F112-38B0-7164DB51C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</a:rPr>
              <a:t>Questions</a:t>
            </a:r>
            <a:endParaRPr lang="en-US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D88627-253F-234C-23FB-62CDAD4B8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0B75F1CF-DD9F-E158-8E2A-8DD9FC3C91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cartoon of a car charging&#10;&#10;AI-generated content may be incorrect.">
            <a:extLst>
              <a:ext uri="{FF2B5EF4-FFF2-40B4-BE49-F238E27FC236}">
                <a16:creationId xmlns:a16="http://schemas.microsoft.com/office/drawing/2014/main" id="{CCCB5A54-85CC-9C12-2A60-2CD5ADF11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042" y="1647825"/>
            <a:ext cx="760095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41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388AE-6CA4-966E-0E64-7D7B950A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548D6262-710F-EF11-B6FE-7B3BDFA04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32835492-6B37-DD97-FFE5-C59D438B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D6B467A1-0796-F77C-C26A-278A06FE2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125D1AED-A865-E981-C810-62D49A1D9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BF10300-B6C3-99C5-1F44-CAD0C4C9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91AB82A-2775-0466-070B-D53CA6030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1000"/>
              </a:spcBef>
            </a:pPr>
            <a:br>
              <a:rPr lang="en-US" sz="1100" kern="1200"/>
            </a:br>
            <a:endParaRPr lang="en-US" sz="11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ts val="1000"/>
              </a:spcBef>
            </a:pPr>
            <a:endParaRPr lang="en-US" sz="1100" kern="1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" name="Google Shape;500;p53">
            <a:extLst>
              <a:ext uri="{FF2B5EF4-FFF2-40B4-BE49-F238E27FC236}">
                <a16:creationId xmlns:a16="http://schemas.microsoft.com/office/drawing/2014/main" id="{1E242109-E6E2-9CE7-9A28-97BD219780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8000" y="6350366"/>
            <a:ext cx="944000" cy="4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Diagram of a car with different components&#10;&#10;AI-generated content may be incorrect.">
            <a:extLst>
              <a:ext uri="{FF2B5EF4-FFF2-40B4-BE49-F238E27FC236}">
                <a16:creationId xmlns:a16="http://schemas.microsoft.com/office/drawing/2014/main" id="{9E92CAB4-A380-5678-DB05-F764CC8BD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002117" y="1673877"/>
            <a:ext cx="7201648" cy="43917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551E29-C12D-40DF-8C8E-626E76A26269}"/>
              </a:ext>
            </a:extLst>
          </p:cNvPr>
          <p:cNvSpPr txBox="1"/>
          <p:nvPr/>
        </p:nvSpPr>
        <p:spPr>
          <a:xfrm>
            <a:off x="2002117" y="6177709"/>
            <a:ext cx="7201648" cy="205442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47938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GreenFleet : Capstone Presentation</vt:lpstr>
      <vt:lpstr>Meet the team: </vt:lpstr>
      <vt:lpstr>Content</vt:lpstr>
      <vt:lpstr>About GreenFleet</vt:lpstr>
      <vt:lpstr>Problem Statement</vt:lpstr>
      <vt:lpstr>Proposed Solution</vt:lpstr>
      <vt:lpstr>Decision Tree + Bayes</vt:lpstr>
      <vt:lpstr>Findings</vt:lpstr>
      <vt:lpstr>Sensitivity Analysis</vt:lpstr>
      <vt:lpstr>Constrained Recommendations</vt:lpstr>
      <vt:lpstr>Recommendations</vt:lpstr>
      <vt:lpstr>Using Risk Simulation – Simulation Model Setup</vt:lpstr>
      <vt:lpstr>Using Risk Simulation – Simulation Execution and Results</vt:lpstr>
      <vt:lpstr>PowerPoint Presentation</vt:lpstr>
      <vt:lpstr>Findings:  Probability of Loss</vt:lpstr>
      <vt:lpstr>Findings:  Volatility of Profit Expected</vt:lpstr>
      <vt:lpstr>Recommendations</vt:lpstr>
      <vt:lpstr>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Tiwari (Student)</dc:creator>
  <cp:revision>76</cp:revision>
  <dcterms:created xsi:type="dcterms:W3CDTF">2025-10-07T14:33:04Z</dcterms:created>
  <dcterms:modified xsi:type="dcterms:W3CDTF">2025-10-09T17:39:03Z</dcterms:modified>
</cp:coreProperties>
</file>